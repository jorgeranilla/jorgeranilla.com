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Set the tone: the ACC values community input and wants the meeting to stay organized, respectful, and grounded in the governing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the ACC's role without expanding beyond the governing documents. Emphasize that the role is review, consistency, and compliance with approved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is intended as a forum-style discussion. The ACC is not presenting final proposals; community feedback is the primary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the meeting flow. Each topic starts with governing language, then concerns, then community feedback, then follow-up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Trash Enclosures. Possible prompts if needed: Should future enclosures fully block street view from multiple angles? Should vinyl/PVC become the clearer standard? How should easement placement be checked before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discuss the fuller trash enclosure points from the previous deck: full screening from street view, corner-lot sightlines, prior single-panel approvals, vinyl/PVC consistency, alternative styles, garage/behind-home storage, and easement/access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Safe Community. Possible prompts if needed: Would clearer reminders help? Should open flames near homes, fences, or common areas receive additional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Drainage Easements. Possible prompts if needed: Which projects create the biggest drainage concerns? Should drainage-impacting work require extra documentation or survey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Aesthetic Preferences. Possible prompts if needed: What aesthetic direction do homeowners want for the community? When should nearby neighbor feedback be considered?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 for Softscaping. Possible prompts if needed: Should any softscaping require approval if it affects drainage, easements, or visibility? What examples would make the rule easier to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everyone for participating. Remind homeowners that the ACC email is available for questions, applications, and follow-up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92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2922"/>
          </a:solidFill>
          <a:ln w="12700">
            <a:solidFill>
              <a:srgbClr val="102922"/>
            </a:solidFill>
            <a:prstDash val="solid"/>
          </a:ln>
        </p:spPr>
      </p:sp>
      <p:sp>
        <p:nvSpPr>
          <p:cNvPr id="3" name="Shape 1"/>
          <p:cNvSpPr/>
          <p:nvPr/>
        </p:nvSpPr>
        <p:spPr>
          <a:xfrm>
            <a:off x="0" y="5285232"/>
            <a:ext cx="12191695" cy="1572768"/>
          </a:xfrm>
          <a:prstGeom prst="rect">
            <a:avLst/>
          </a:prstGeom>
          <a:solidFill>
            <a:srgbClr val="173B32"/>
          </a:solidFill>
          <a:ln w="12700">
            <a:solidFill>
              <a:srgbClr val="173B32"/>
            </a:solidFill>
            <a:prstDash val="solid"/>
          </a:ln>
        </p:spPr>
      </p:sp>
      <p:sp>
        <p:nvSpPr>
          <p:cNvPr id="4" name="Shape 2"/>
          <p:cNvSpPr/>
          <p:nvPr/>
        </p:nvSpPr>
        <p:spPr>
          <a:xfrm>
            <a:off x="822960" y="932688"/>
            <a:ext cx="1280160" cy="0"/>
          </a:xfrm>
          <a:prstGeom prst="line">
            <a:avLst/>
          </a:prstGeom>
          <a:noFill/>
          <a:ln w="50800">
            <a:solidFill>
              <a:srgbClr val="C99A3F"/>
            </a:solidFill>
            <a:prstDash val="solid"/>
          </a:ln>
        </p:spPr>
      </p:sp>
      <p:sp>
        <p:nvSpPr>
          <p:cNvPr id="5" name="Text 3"/>
          <p:cNvSpPr/>
          <p:nvPr/>
        </p:nvSpPr>
        <p:spPr>
          <a:xfrm>
            <a:off x="822960" y="1078992"/>
            <a:ext cx="3291840" cy="256032"/>
          </a:xfrm>
          <a:prstGeom prst="rect">
            <a:avLst/>
          </a:prstGeom>
          <a:noFill/>
          <a:ln/>
        </p:spPr>
        <p:txBody>
          <a:bodyPr wrap="square" rtlCol="0" anchor="ctr"/>
          <a:lstStyle/>
          <a:p>
            <a:pPr indent="0" marL="0">
              <a:buNone/>
            </a:pPr>
            <a:r>
              <a:rPr lang="en-US" sz="1200" b="1" dirty="0">
                <a:solidFill>
                  <a:srgbClr val="D9E7E0"/>
                </a:solidFill>
                <a:latin typeface="Aptos" pitchFamily="34" charset="0"/>
                <a:ea typeface="Aptos" pitchFamily="34" charset="-122"/>
                <a:cs typeface="Aptos" pitchFamily="34" charset="-120"/>
              </a:rPr>
              <a:t>Umstead Grove HOA</a:t>
            </a:r>
            <a:endParaRPr lang="en-US" sz="1200" dirty="0"/>
          </a:p>
        </p:txBody>
      </p:sp>
      <p:sp>
        <p:nvSpPr>
          <p:cNvPr id="6" name="Text 4"/>
          <p:cNvSpPr/>
          <p:nvPr/>
        </p:nvSpPr>
        <p:spPr>
          <a:xfrm>
            <a:off x="777240" y="1554480"/>
            <a:ext cx="9052560" cy="1645920"/>
          </a:xfrm>
          <a:prstGeom prst="rect">
            <a:avLst/>
          </a:prstGeom>
          <a:noFill/>
          <a:ln/>
        </p:spPr>
        <p:txBody>
          <a:bodyPr wrap="square" lIns="0" tIns="0" rIns="0" bIns="0" rtlCol="0" anchor="ctr">
            <a:normAutofit/>
          </a:bodyPr>
          <a:lstStyle/>
          <a:p>
            <a:pPr indent="0" marL="0">
              <a:buNone/>
            </a:pPr>
            <a:r>
              <a:rPr lang="en-US" sz="4800" b="1" dirty="0">
                <a:solidFill>
                  <a:srgbClr val="FFFFFF"/>
                </a:solidFill>
                <a:latin typeface="Aptos Display" pitchFamily="34" charset="0"/>
                <a:ea typeface="Aptos Display" pitchFamily="34" charset="-122"/>
                <a:cs typeface="Aptos Display" pitchFamily="34" charset="-120"/>
              </a:rPr>
              <a:t>ACC Community Meeting</a:t>
            </a:r>
            <a:endParaRPr lang="en-US" sz="4800" dirty="0"/>
          </a:p>
        </p:txBody>
      </p:sp>
      <p:sp>
        <p:nvSpPr>
          <p:cNvPr id="7" name="Text 5"/>
          <p:cNvSpPr/>
          <p:nvPr/>
        </p:nvSpPr>
        <p:spPr>
          <a:xfrm>
            <a:off x="822960" y="3246120"/>
            <a:ext cx="7589520" cy="438912"/>
          </a:xfrm>
          <a:prstGeom prst="rect">
            <a:avLst/>
          </a:prstGeom>
          <a:noFill/>
          <a:ln/>
        </p:spPr>
        <p:txBody>
          <a:bodyPr wrap="square" lIns="0" tIns="0" rIns="0" bIns="0" rtlCol="0" anchor="ctr"/>
          <a:lstStyle/>
          <a:p>
            <a:pPr indent="0" marL="0">
              <a:buNone/>
            </a:pPr>
            <a:r>
              <a:rPr lang="en-US" sz="1900" dirty="0">
                <a:solidFill>
                  <a:srgbClr val="CFE0D8"/>
                </a:solidFill>
                <a:latin typeface="Aptos" pitchFamily="34" charset="0"/>
                <a:ea typeface="Aptos" pitchFamily="34" charset="-122"/>
                <a:cs typeface="Aptos" pitchFamily="34" charset="-120"/>
              </a:rPr>
              <a:t>A practical discussion about standards, review process, and homeowner feedback.</a:t>
            </a:r>
            <a:endParaRPr lang="en-US" sz="1900" dirty="0"/>
          </a:p>
        </p:txBody>
      </p:sp>
      <p:sp>
        <p:nvSpPr>
          <p:cNvPr id="8" name="Text 6"/>
          <p:cNvSpPr/>
          <p:nvPr/>
        </p:nvSpPr>
        <p:spPr>
          <a:xfrm>
            <a:off x="822960" y="5715000"/>
            <a:ext cx="3840480" cy="329184"/>
          </a:xfrm>
          <a:prstGeom prst="rect">
            <a:avLst/>
          </a:prstGeom>
          <a:noFill/>
          <a:ln/>
        </p:spPr>
        <p:txBody>
          <a:bodyPr wrap="square" rtlCol="0" anchor="ctr"/>
          <a:lstStyle/>
          <a:p>
            <a:pPr indent="0" marL="0">
              <a:buNone/>
            </a:pPr>
            <a:r>
              <a:rPr lang="en-US" sz="1700" b="1" dirty="0">
                <a:solidFill>
                  <a:srgbClr val="FFFFFF"/>
                </a:solidFill>
                <a:latin typeface="Aptos" pitchFamily="34" charset="0"/>
                <a:ea typeface="Aptos" pitchFamily="34" charset="-122"/>
                <a:cs typeface="Aptos" pitchFamily="34" charset="-120"/>
              </a:rPr>
              <a:t>Welcome, neighbors</a:t>
            </a:r>
            <a:endParaRPr lang="en-US" sz="1700" dirty="0"/>
          </a:p>
        </p:txBody>
      </p:sp>
      <p:sp>
        <p:nvSpPr>
          <p:cNvPr id="9" name="Text 7"/>
          <p:cNvSpPr/>
          <p:nvPr/>
        </p:nvSpPr>
        <p:spPr>
          <a:xfrm>
            <a:off x="822960" y="6099048"/>
            <a:ext cx="4572000" cy="256032"/>
          </a:xfrm>
          <a:prstGeom prst="rect">
            <a:avLst/>
          </a:prstGeom>
          <a:noFill/>
          <a:ln/>
        </p:spPr>
        <p:txBody>
          <a:bodyPr wrap="square" rtlCol="0" anchor="ctr"/>
          <a:lstStyle/>
          <a:p>
            <a:pPr indent="0" marL="0">
              <a:buNone/>
            </a:pPr>
            <a:r>
              <a:rPr lang="en-US" sz="1250" dirty="0">
                <a:solidFill>
                  <a:srgbClr val="CFE0D8"/>
                </a:solidFill>
                <a:latin typeface="Aptos" pitchFamily="34" charset="0"/>
                <a:ea typeface="Aptos" pitchFamily="34" charset="-122"/>
                <a:cs typeface="Aptos" pitchFamily="34" charset="-120"/>
              </a:rPr>
              <a:t>Organized, respectful, transparent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6E62"/>
          </a:solidFill>
          <a:ln w="12700">
            <a:solidFill>
              <a:srgbClr val="2B6E62"/>
            </a:solidFill>
            <a:prstDash val="solid"/>
          </a:ln>
        </p:spPr>
      </p:sp>
      <p:sp>
        <p:nvSpPr>
          <p:cNvPr id="3" name="Text 1"/>
          <p:cNvSpPr/>
          <p:nvPr/>
        </p:nvSpPr>
        <p:spPr>
          <a:xfrm>
            <a:off x="658368" y="411480"/>
            <a:ext cx="3657600" cy="228600"/>
          </a:xfrm>
          <a:prstGeom prst="rect">
            <a:avLst/>
          </a:prstGeom>
          <a:noFill/>
          <a:ln/>
        </p:spPr>
        <p:txBody>
          <a:bodyPr wrap="square" rtlCol="0" anchor="ctr"/>
          <a:lstStyle/>
          <a:p>
            <a:pPr indent="0" marL="0">
              <a:buNone/>
            </a:pPr>
            <a:r>
              <a:rPr lang="en-US" sz="1050" b="1" dirty="0">
                <a:solidFill>
                  <a:srgbClr val="2B6E62"/>
                </a:solidFill>
                <a:latin typeface="Aptos" pitchFamily="34" charset="0"/>
                <a:ea typeface="Aptos" pitchFamily="34" charset="-122"/>
                <a:cs typeface="Aptos" pitchFamily="34" charset="-120"/>
              </a:rPr>
              <a:t>CC&amp;R ARTICLE 13</a:t>
            </a:r>
            <a:endParaRPr lang="en-US" sz="1050" dirty="0"/>
          </a:p>
        </p:txBody>
      </p:sp>
      <p:sp>
        <p:nvSpPr>
          <p:cNvPr id="4" name="Text 2"/>
          <p:cNvSpPr/>
          <p:nvPr/>
        </p:nvSpPr>
        <p:spPr>
          <a:xfrm>
            <a:off x="640080" y="713232"/>
            <a:ext cx="9052560" cy="566928"/>
          </a:xfrm>
          <a:prstGeom prst="rect">
            <a:avLst/>
          </a:prstGeom>
          <a:noFill/>
          <a:ln/>
        </p:spPr>
        <p:txBody>
          <a:bodyPr wrap="square" lIns="0" tIns="0" rIns="0" bIns="0" rtlCol="0" anchor="ctr"/>
          <a:lstStyle/>
          <a:p>
            <a:pPr indent="0" marL="0">
              <a:buNone/>
            </a:pPr>
            <a:r>
              <a:rPr lang="en-US" sz="3000" b="1" dirty="0">
                <a:solidFill>
                  <a:srgbClr val="17212B"/>
                </a:solidFill>
                <a:latin typeface="Aptos Display" pitchFamily="34" charset="0"/>
                <a:ea typeface="Aptos Display" pitchFamily="34" charset="-122"/>
                <a:cs typeface="Aptos Display" pitchFamily="34" charset="-120"/>
              </a:rPr>
              <a:t>What the ACC is responsible for</a:t>
            </a:r>
            <a:endParaRPr lang="en-US" sz="3000" dirty="0"/>
          </a:p>
        </p:txBody>
      </p:sp>
      <p:sp>
        <p:nvSpPr>
          <p:cNvPr id="5" name="Text 3"/>
          <p:cNvSpPr/>
          <p:nvPr/>
        </p:nvSpPr>
        <p:spPr>
          <a:xfrm>
            <a:off x="658368" y="1298448"/>
            <a:ext cx="9875520" cy="329184"/>
          </a:xfrm>
          <a:prstGeom prst="rect">
            <a:avLst/>
          </a:prstGeom>
          <a:noFill/>
          <a:ln/>
        </p:spPr>
        <p:txBody>
          <a:bodyPr wrap="square" lIns="0" tIns="0" rIns="0" bIns="0" rtlCol="0" anchor="ctr"/>
          <a:lstStyle/>
          <a:p>
            <a:pPr indent="0" marL="0">
              <a:buNone/>
            </a:pPr>
            <a:r>
              <a:rPr lang="en-US" sz="1350" dirty="0">
                <a:solidFill>
                  <a:srgbClr val="5E6B78"/>
                </a:solidFill>
                <a:latin typeface="Aptos" pitchFamily="34" charset="0"/>
                <a:ea typeface="Aptos" pitchFamily="34" charset="-122"/>
                <a:cs typeface="Aptos" pitchFamily="34" charset="-120"/>
              </a:rPr>
              <a:t>Exact language from the recorded Declaration, shown here to ground the discussion.</a:t>
            </a:r>
            <a:endParaRPr lang="en-US" sz="1350" dirty="0"/>
          </a:p>
        </p:txBody>
      </p:sp>
      <p:sp>
        <p:nvSpPr>
          <p:cNvPr id="6" name="Text 4"/>
          <p:cNvSpPr/>
          <p:nvPr/>
        </p:nvSpPr>
        <p:spPr>
          <a:xfrm>
            <a:off x="713232" y="1847088"/>
            <a:ext cx="2240280" cy="256032"/>
          </a:xfrm>
          <a:prstGeom prst="rect">
            <a:avLst/>
          </a:prstGeom>
          <a:noFill/>
          <a:ln/>
        </p:spPr>
        <p:txBody>
          <a:bodyPr wrap="square" rtlCol="0" anchor="ctr"/>
          <a:lstStyle/>
          <a:p>
            <a:pPr indent="0" marL="0">
              <a:buNone/>
            </a:pPr>
            <a:r>
              <a:rPr lang="en-US" sz="1300" b="1" dirty="0">
                <a:solidFill>
                  <a:srgbClr val="2B6E62"/>
                </a:solidFill>
                <a:latin typeface="Aptos" pitchFamily="34" charset="0"/>
                <a:ea typeface="Aptos" pitchFamily="34" charset="-122"/>
                <a:cs typeface="Aptos" pitchFamily="34" charset="-120"/>
              </a:rPr>
              <a:t>Review and approval</a:t>
            </a:r>
            <a:endParaRPr lang="en-US" sz="1300" dirty="0"/>
          </a:p>
        </p:txBody>
      </p:sp>
      <p:sp>
        <p:nvSpPr>
          <p:cNvPr id="7" name="Text 5"/>
          <p:cNvSpPr/>
          <p:nvPr/>
        </p:nvSpPr>
        <p:spPr>
          <a:xfrm>
            <a:off x="2834640" y="1792224"/>
            <a:ext cx="8046720" cy="685800"/>
          </a:xfrm>
          <a:prstGeom prst="rect">
            <a:avLst/>
          </a:prstGeom>
          <a:noFill/>
          <a:ln/>
        </p:spPr>
        <p:txBody>
          <a:bodyPr wrap="square" lIns="254" tIns="254" rIns="254" bIns="254" rtlCol="0" anchor="ctr">
            <a:normAutofit/>
          </a:bodyPr>
          <a:lstStyle/>
          <a:p>
            <a:pPr indent="0" marL="0">
              <a:buNone/>
            </a:pPr>
            <a:r>
              <a:rPr lang="en-US" sz="1760" dirty="0">
                <a:solidFill>
                  <a:srgbClr val="17212B"/>
                </a:solidFill>
                <a:latin typeface="Aptos" pitchFamily="34" charset="0"/>
                <a:ea typeface="Aptos" pitchFamily="34" charset="-122"/>
                <a:cs typeface="Aptos" pitchFamily="34" charset="-120"/>
              </a:rPr>
              <a:t>"The Architectural Control Committee shall have the absolute and exclusive right to approve or disapprove Plans in its sole discretion and may approve or disapprove Plans based on purely aesthetic reasons, which in the sole discretion of the Architectural Control Committee shall be deemed sufficient."</a:t>
            </a:r>
            <a:endParaRPr lang="en-US" sz="1760" dirty="0"/>
          </a:p>
        </p:txBody>
      </p:sp>
      <p:sp>
        <p:nvSpPr>
          <p:cNvPr id="8" name="Text 6"/>
          <p:cNvSpPr/>
          <p:nvPr/>
        </p:nvSpPr>
        <p:spPr>
          <a:xfrm>
            <a:off x="9875520" y="2505456"/>
            <a:ext cx="1097280" cy="182880"/>
          </a:xfrm>
          <a:prstGeom prst="rect">
            <a:avLst/>
          </a:prstGeom>
          <a:noFill/>
          <a:ln/>
        </p:spPr>
        <p:txBody>
          <a:bodyPr wrap="square" rtlCol="0" anchor="ctr"/>
          <a:lstStyle/>
          <a:p>
            <a:pPr algn="r" indent="0" marL="0">
              <a:buNone/>
            </a:pPr>
            <a:r>
              <a:rPr lang="en-US" sz="950" i="1" dirty="0">
                <a:solidFill>
                  <a:srgbClr val="5E6B78"/>
                </a:solidFill>
                <a:latin typeface="Aptos" pitchFamily="34" charset="0"/>
                <a:ea typeface="Aptos" pitchFamily="34" charset="-122"/>
                <a:cs typeface="Aptos" pitchFamily="34" charset="-120"/>
              </a:rPr>
              <a:t>CC&amp;R Section 13.01</a:t>
            </a:r>
            <a:endParaRPr lang="en-US" sz="950" dirty="0"/>
          </a:p>
        </p:txBody>
      </p:sp>
      <p:sp>
        <p:nvSpPr>
          <p:cNvPr id="9" name="Shape 7"/>
          <p:cNvSpPr/>
          <p:nvPr/>
        </p:nvSpPr>
        <p:spPr>
          <a:xfrm>
            <a:off x="713232" y="2871216"/>
            <a:ext cx="10241280" cy="0"/>
          </a:xfrm>
          <a:prstGeom prst="line">
            <a:avLst/>
          </a:prstGeom>
          <a:noFill/>
          <a:ln w="12700">
            <a:solidFill>
              <a:srgbClr val="C9D8D2"/>
            </a:solidFill>
            <a:prstDash val="solid"/>
          </a:ln>
        </p:spPr>
      </p:sp>
      <p:sp>
        <p:nvSpPr>
          <p:cNvPr id="10" name="Text 8"/>
          <p:cNvSpPr/>
          <p:nvPr/>
        </p:nvSpPr>
        <p:spPr>
          <a:xfrm>
            <a:off x="713232" y="3145536"/>
            <a:ext cx="2240280" cy="256032"/>
          </a:xfrm>
          <a:prstGeom prst="rect">
            <a:avLst/>
          </a:prstGeom>
          <a:noFill/>
          <a:ln/>
        </p:spPr>
        <p:txBody>
          <a:bodyPr wrap="square" rtlCol="0" anchor="ctr"/>
          <a:lstStyle/>
          <a:p>
            <a:pPr indent="0" marL="0">
              <a:buNone/>
            </a:pPr>
            <a:r>
              <a:rPr lang="en-US" sz="1300" b="1" dirty="0">
                <a:solidFill>
                  <a:srgbClr val="2B6E62"/>
                </a:solidFill>
                <a:latin typeface="Aptos" pitchFamily="34" charset="0"/>
                <a:ea typeface="Aptos" pitchFamily="34" charset="-122"/>
                <a:cs typeface="Aptos" pitchFamily="34" charset="-120"/>
              </a:rPr>
              <a:t>Committee structure</a:t>
            </a:r>
            <a:endParaRPr lang="en-US" sz="1300" dirty="0"/>
          </a:p>
        </p:txBody>
      </p:sp>
      <p:sp>
        <p:nvSpPr>
          <p:cNvPr id="11" name="Text 9"/>
          <p:cNvSpPr/>
          <p:nvPr/>
        </p:nvSpPr>
        <p:spPr>
          <a:xfrm>
            <a:off x="2834640" y="3090672"/>
            <a:ext cx="8046720" cy="685800"/>
          </a:xfrm>
          <a:prstGeom prst="rect">
            <a:avLst/>
          </a:prstGeom>
          <a:noFill/>
          <a:ln/>
        </p:spPr>
        <p:txBody>
          <a:bodyPr wrap="square" lIns="254" tIns="254" rIns="254" bIns="254" rtlCol="0" anchor="ctr">
            <a:normAutofit/>
          </a:bodyPr>
          <a:lstStyle/>
          <a:p>
            <a:pPr indent="0" marL="0">
              <a:buNone/>
            </a:pPr>
            <a:r>
              <a:rPr lang="en-US" sz="1760" dirty="0">
                <a:solidFill>
                  <a:srgbClr val="17212B"/>
                </a:solidFill>
                <a:latin typeface="Aptos" pitchFamily="34" charset="0"/>
                <a:ea typeface="Aptos" pitchFamily="34" charset="-122"/>
                <a:cs typeface="Aptos" pitchFamily="34" charset="-120"/>
              </a:rPr>
              <a:t>"The Architectural Control Committee shall be composed of three (3) persons (who need not be Members of the Association) appointed by the Board. A majority of the Architectural Control Committee may designate a representative to act for it."</a:t>
            </a:r>
            <a:endParaRPr lang="en-US" sz="1760" dirty="0"/>
          </a:p>
        </p:txBody>
      </p:sp>
      <p:sp>
        <p:nvSpPr>
          <p:cNvPr id="12" name="Text 10"/>
          <p:cNvSpPr/>
          <p:nvPr/>
        </p:nvSpPr>
        <p:spPr>
          <a:xfrm>
            <a:off x="9875520" y="3803904"/>
            <a:ext cx="1097280" cy="182880"/>
          </a:xfrm>
          <a:prstGeom prst="rect">
            <a:avLst/>
          </a:prstGeom>
          <a:noFill/>
          <a:ln/>
        </p:spPr>
        <p:txBody>
          <a:bodyPr wrap="square" rtlCol="0" anchor="ctr"/>
          <a:lstStyle/>
          <a:p>
            <a:pPr algn="r" indent="0" marL="0">
              <a:buNone/>
            </a:pPr>
            <a:r>
              <a:rPr lang="en-US" sz="950" i="1" dirty="0">
                <a:solidFill>
                  <a:srgbClr val="5E6B78"/>
                </a:solidFill>
                <a:latin typeface="Aptos" pitchFamily="34" charset="0"/>
                <a:ea typeface="Aptos" pitchFamily="34" charset="-122"/>
                <a:cs typeface="Aptos" pitchFamily="34" charset="-120"/>
              </a:rPr>
              <a:t>CC&amp;R Section 13.02(a)(i)</a:t>
            </a:r>
            <a:endParaRPr lang="en-US" sz="950" dirty="0"/>
          </a:p>
        </p:txBody>
      </p:sp>
      <p:sp>
        <p:nvSpPr>
          <p:cNvPr id="13" name="Shape 11"/>
          <p:cNvSpPr/>
          <p:nvPr/>
        </p:nvSpPr>
        <p:spPr>
          <a:xfrm>
            <a:off x="713232" y="4169664"/>
            <a:ext cx="10241280" cy="0"/>
          </a:xfrm>
          <a:prstGeom prst="line">
            <a:avLst/>
          </a:prstGeom>
          <a:noFill/>
          <a:ln w="12700">
            <a:solidFill>
              <a:srgbClr val="C9D8D2"/>
            </a:solidFill>
            <a:prstDash val="solid"/>
          </a:ln>
        </p:spPr>
      </p:sp>
      <p:sp>
        <p:nvSpPr>
          <p:cNvPr id="14" name="Text 12"/>
          <p:cNvSpPr/>
          <p:nvPr/>
        </p:nvSpPr>
        <p:spPr>
          <a:xfrm>
            <a:off x="713232" y="4443984"/>
            <a:ext cx="2240280" cy="256032"/>
          </a:xfrm>
          <a:prstGeom prst="rect">
            <a:avLst/>
          </a:prstGeom>
          <a:noFill/>
          <a:ln/>
        </p:spPr>
        <p:txBody>
          <a:bodyPr wrap="square" rtlCol="0" anchor="ctr"/>
          <a:lstStyle/>
          <a:p>
            <a:pPr indent="0" marL="0">
              <a:buNone/>
            </a:pPr>
            <a:r>
              <a:rPr lang="en-US" sz="1300" b="1" dirty="0">
                <a:solidFill>
                  <a:srgbClr val="2B6E62"/>
                </a:solidFill>
                <a:latin typeface="Aptos" pitchFamily="34" charset="0"/>
                <a:ea typeface="Aptos" pitchFamily="34" charset="-122"/>
                <a:cs typeface="Aptos" pitchFamily="34" charset="-120"/>
              </a:rPr>
              <a:t>Monitoring compliance</a:t>
            </a:r>
            <a:endParaRPr lang="en-US" sz="1300" dirty="0"/>
          </a:p>
        </p:txBody>
      </p:sp>
      <p:sp>
        <p:nvSpPr>
          <p:cNvPr id="15" name="Text 13"/>
          <p:cNvSpPr/>
          <p:nvPr/>
        </p:nvSpPr>
        <p:spPr>
          <a:xfrm>
            <a:off x="2834640" y="4389120"/>
            <a:ext cx="8046720" cy="685800"/>
          </a:xfrm>
          <a:prstGeom prst="rect">
            <a:avLst/>
          </a:prstGeom>
          <a:noFill/>
          <a:ln/>
        </p:spPr>
        <p:txBody>
          <a:bodyPr wrap="square" lIns="254" tIns="254" rIns="254" bIns="254" rtlCol="0" anchor="ctr">
            <a:normAutofit/>
          </a:bodyPr>
          <a:lstStyle/>
          <a:p>
            <a:pPr indent="0" marL="0">
              <a:buNone/>
            </a:pPr>
            <a:r>
              <a:rPr lang="en-US" sz="1760" dirty="0">
                <a:solidFill>
                  <a:srgbClr val="17212B"/>
                </a:solidFill>
                <a:latin typeface="Aptos" pitchFamily="34" charset="0"/>
                <a:ea typeface="Aptos" pitchFamily="34" charset="-122"/>
                <a:cs typeface="Aptos" pitchFamily="34" charset="-120"/>
              </a:rPr>
              <a:t>"The ACC shall have the right to monitor construction of improvements and investigate compliance with the approved Plans and is hereby granted the right to enter upon any Lot in order to do so."</a:t>
            </a:r>
            <a:endParaRPr lang="en-US" sz="1760" dirty="0"/>
          </a:p>
        </p:txBody>
      </p:sp>
      <p:sp>
        <p:nvSpPr>
          <p:cNvPr id="16" name="Text 14"/>
          <p:cNvSpPr/>
          <p:nvPr/>
        </p:nvSpPr>
        <p:spPr>
          <a:xfrm>
            <a:off x="9875520" y="5102352"/>
            <a:ext cx="1097280" cy="182880"/>
          </a:xfrm>
          <a:prstGeom prst="rect">
            <a:avLst/>
          </a:prstGeom>
          <a:noFill/>
          <a:ln/>
        </p:spPr>
        <p:txBody>
          <a:bodyPr wrap="square" rtlCol="0" anchor="ctr"/>
          <a:lstStyle/>
          <a:p>
            <a:pPr algn="r" indent="0" marL="0">
              <a:buNone/>
            </a:pPr>
            <a:r>
              <a:rPr lang="en-US" sz="950" i="1" dirty="0">
                <a:solidFill>
                  <a:srgbClr val="5E6B78"/>
                </a:solidFill>
                <a:latin typeface="Aptos" pitchFamily="34" charset="0"/>
                <a:ea typeface="Aptos" pitchFamily="34" charset="-122"/>
                <a:cs typeface="Aptos" pitchFamily="34" charset="-120"/>
              </a:rPr>
              <a:t>CC&amp;R Section 13.02(b)</a:t>
            </a:r>
            <a:endParaRPr lang="en-US" sz="950" dirty="0"/>
          </a:p>
        </p:txBody>
      </p:sp>
      <p:sp>
        <p:nvSpPr>
          <p:cNvPr id="17" name="Shape 15"/>
          <p:cNvSpPr/>
          <p:nvPr/>
        </p:nvSpPr>
        <p:spPr>
          <a:xfrm>
            <a:off x="594360" y="6345936"/>
            <a:ext cx="10972800" cy="0"/>
          </a:xfrm>
          <a:prstGeom prst="line">
            <a:avLst/>
          </a:prstGeom>
          <a:noFill/>
          <a:ln w="12700">
            <a:solidFill>
              <a:srgbClr val="C9D8D2"/>
            </a:solidFill>
            <a:prstDash val="solid"/>
          </a:ln>
        </p:spPr>
      </p:sp>
      <p:sp>
        <p:nvSpPr>
          <p:cNvPr id="18" name="Text 16"/>
          <p:cNvSpPr/>
          <p:nvPr/>
        </p:nvSpPr>
        <p:spPr>
          <a:xfrm>
            <a:off x="594360" y="6446520"/>
            <a:ext cx="9966960" cy="201168"/>
          </a:xfrm>
          <a:prstGeom prst="rect">
            <a:avLst/>
          </a:prstGeom>
          <a:noFill/>
          <a:ln/>
        </p:spPr>
        <p:txBody>
          <a:bodyPr wrap="square" rtlCol="0" anchor="ctr">
            <a:normAutofit/>
          </a:bodyPr>
          <a:lstStyle/>
          <a:p>
            <a:pPr indent="0" marL="0">
              <a:buNone/>
            </a:pPr>
            <a:r>
              <a:rPr lang="en-US" sz="950" dirty="0">
                <a:solidFill>
                  <a:srgbClr val="5E6B78"/>
                </a:solidFill>
                <a:latin typeface="Aptos" pitchFamily="34" charset="0"/>
                <a:ea typeface="Aptos" pitchFamily="34" charset="-122"/>
                <a:cs typeface="Aptos" pitchFamily="34" charset="-120"/>
              </a:rPr>
              <a:t>Source: Umstead Grove Declaration of Covenants, Conditions and Restrictions - Recorded.pdf, Article 13.</a:t>
            </a:r>
            <a:endParaRPr lang="en-US" sz="950" dirty="0"/>
          </a:p>
        </p:txBody>
      </p:sp>
      <p:sp>
        <p:nvSpPr>
          <p:cNvPr id="19" name="Text 17"/>
          <p:cNvSpPr/>
          <p:nvPr/>
        </p:nvSpPr>
        <p:spPr>
          <a:xfrm>
            <a:off x="11064240" y="6419088"/>
            <a:ext cx="502920" cy="228600"/>
          </a:xfrm>
          <a:prstGeom prst="rect">
            <a:avLst/>
          </a:prstGeom>
          <a:noFill/>
          <a:ln/>
        </p:spPr>
        <p:txBody>
          <a:bodyPr wrap="square" rtlCol="0" anchor="ctr"/>
          <a:lstStyle/>
          <a:p>
            <a:pPr algn="r" indent="0" marL="0">
              <a:buNone/>
            </a:pPr>
            <a:r>
              <a:rPr lang="en-US" sz="1000" dirty="0">
                <a:solidFill>
                  <a:srgbClr val="5E6B78"/>
                </a:solidFill>
                <a:latin typeface="Aptos" pitchFamily="34" charset="0"/>
                <a:ea typeface="Aptos" pitchFamily="34" charset="-122"/>
                <a:cs typeface="Aptos"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6E62"/>
          </a:solidFill>
          <a:ln w="12700">
            <a:solidFill>
              <a:srgbClr val="2B6E62"/>
            </a:solidFill>
            <a:prstDash val="solid"/>
          </a:ln>
        </p:spPr>
      </p:sp>
      <p:sp>
        <p:nvSpPr>
          <p:cNvPr id="3" name="Text 1"/>
          <p:cNvSpPr/>
          <p:nvPr/>
        </p:nvSpPr>
        <p:spPr>
          <a:xfrm>
            <a:off x="658368" y="411480"/>
            <a:ext cx="3657600" cy="228600"/>
          </a:xfrm>
          <a:prstGeom prst="rect">
            <a:avLst/>
          </a:prstGeom>
          <a:noFill/>
          <a:ln/>
        </p:spPr>
        <p:txBody>
          <a:bodyPr wrap="square" rtlCol="0" anchor="ctr"/>
          <a:lstStyle/>
          <a:p>
            <a:pPr indent="0" marL="0">
              <a:buNone/>
            </a:pPr>
            <a:r>
              <a:rPr lang="en-US" sz="1050" b="1" dirty="0">
                <a:solidFill>
                  <a:srgbClr val="2B6E62"/>
                </a:solidFill>
                <a:latin typeface="Aptos" pitchFamily="34" charset="0"/>
                <a:ea typeface="Aptos" pitchFamily="34" charset="-122"/>
                <a:cs typeface="Aptos" pitchFamily="34" charset="-120"/>
              </a:rPr>
              <a:t>MEETING AGENDA</a:t>
            </a:r>
            <a:endParaRPr lang="en-US" sz="1050" dirty="0"/>
          </a:p>
        </p:txBody>
      </p:sp>
      <p:sp>
        <p:nvSpPr>
          <p:cNvPr id="4" name="Text 2"/>
          <p:cNvSpPr/>
          <p:nvPr/>
        </p:nvSpPr>
        <p:spPr>
          <a:xfrm>
            <a:off x="640080" y="713232"/>
            <a:ext cx="9052560" cy="566928"/>
          </a:xfrm>
          <a:prstGeom prst="rect">
            <a:avLst/>
          </a:prstGeom>
          <a:noFill/>
          <a:ln/>
        </p:spPr>
        <p:txBody>
          <a:bodyPr wrap="square" lIns="0" tIns="0" rIns="0" bIns="0" rtlCol="0" anchor="ctr"/>
          <a:lstStyle/>
          <a:p>
            <a:pPr indent="0" marL="0">
              <a:buNone/>
            </a:pPr>
            <a:r>
              <a:rPr lang="en-US" sz="3000" b="1" dirty="0">
                <a:solidFill>
                  <a:srgbClr val="17212B"/>
                </a:solidFill>
                <a:latin typeface="Aptos Display" pitchFamily="34" charset="0"/>
                <a:ea typeface="Aptos Display" pitchFamily="34" charset="-122"/>
                <a:cs typeface="Aptos Display" pitchFamily="34" charset="-120"/>
              </a:rPr>
              <a:t>Community forum topics</a:t>
            </a:r>
            <a:endParaRPr lang="en-US" sz="3000" dirty="0"/>
          </a:p>
        </p:txBody>
      </p:sp>
      <p:sp>
        <p:nvSpPr>
          <p:cNvPr id="5" name="Text 3"/>
          <p:cNvSpPr/>
          <p:nvPr/>
        </p:nvSpPr>
        <p:spPr>
          <a:xfrm>
            <a:off x="658368" y="1298448"/>
            <a:ext cx="9875520" cy="329184"/>
          </a:xfrm>
          <a:prstGeom prst="rect">
            <a:avLst/>
          </a:prstGeom>
          <a:noFill/>
          <a:ln/>
        </p:spPr>
        <p:txBody>
          <a:bodyPr wrap="square" lIns="0" tIns="0" rIns="0" bIns="0" rtlCol="0" anchor="ctr"/>
          <a:lstStyle/>
          <a:p>
            <a:pPr indent="0" marL="0">
              <a:buNone/>
            </a:pPr>
            <a:r>
              <a:rPr lang="en-US" sz="1350" dirty="0">
                <a:solidFill>
                  <a:srgbClr val="5E6B78"/>
                </a:solidFill>
                <a:latin typeface="Aptos" pitchFamily="34" charset="0"/>
                <a:ea typeface="Aptos" pitchFamily="34" charset="-122"/>
                <a:cs typeface="Aptos" pitchFamily="34" charset="-120"/>
              </a:rPr>
              <a:t>The goal is discussion, feedback, and clarity around possible future ACC direction.</a:t>
            </a:r>
            <a:endParaRPr lang="en-US" sz="1350" dirty="0"/>
          </a:p>
        </p:txBody>
      </p:sp>
      <p:sp>
        <p:nvSpPr>
          <p:cNvPr id="6" name="Text 4"/>
          <p:cNvSpPr/>
          <p:nvPr/>
        </p:nvSpPr>
        <p:spPr>
          <a:xfrm>
            <a:off x="731520" y="1783080"/>
            <a:ext cx="292608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Forum purpose</a:t>
            </a:r>
            <a:endParaRPr lang="en-US" sz="1500" dirty="0"/>
          </a:p>
        </p:txBody>
      </p:sp>
      <p:sp>
        <p:nvSpPr>
          <p:cNvPr id="7" name="Text 5"/>
          <p:cNvSpPr/>
          <p:nvPr/>
        </p:nvSpPr>
        <p:spPr>
          <a:xfrm>
            <a:off x="749808" y="2240280"/>
            <a:ext cx="4617720" cy="1463040"/>
          </a:xfrm>
          <a:prstGeom prst="rect">
            <a:avLst/>
          </a:prstGeom>
          <a:noFill/>
          <a:ln/>
        </p:spPr>
        <p:txBody>
          <a:bodyPr wrap="square" lIns="254" tIns="254" rIns="254" bIns="254" rtlCol="0" anchor="ctr">
            <a:normAutofit/>
          </a:bodyPr>
          <a:lstStyle/>
          <a:p>
            <a:pPr indent="0" marL="0">
              <a:buNone/>
            </a:pPr>
            <a:r>
              <a:rPr lang="en-US" sz="2000" dirty="0">
                <a:solidFill>
                  <a:srgbClr val="17212B"/>
                </a:solidFill>
                <a:latin typeface="Aptos" pitchFamily="34" charset="0"/>
                <a:ea typeface="Aptos" pitchFamily="34" charset="-122"/>
                <a:cs typeface="Aptos" pitchFamily="34" charset="-120"/>
              </a:rPr>
              <a:t>We want to honor the guidelines and covenants laid out by the governing documents while giving homeowners a voice in the community's future direction and aesthetic disposition.</a:t>
            </a:r>
            <a:endParaRPr lang="en-US" sz="2000" dirty="0"/>
          </a:p>
        </p:txBody>
      </p:sp>
      <p:sp>
        <p:nvSpPr>
          <p:cNvPr id="8" name="Text 6"/>
          <p:cNvSpPr/>
          <p:nvPr/>
        </p:nvSpPr>
        <p:spPr>
          <a:xfrm>
            <a:off x="749808" y="4160520"/>
            <a:ext cx="4572000" cy="457200"/>
          </a:xfrm>
          <a:prstGeom prst="rect">
            <a:avLst/>
          </a:prstGeom>
          <a:noFill/>
          <a:ln/>
        </p:spPr>
        <p:txBody>
          <a:bodyPr wrap="square" rtlCol="0" anchor="ctr">
            <a:normAutofit/>
          </a:bodyPr>
          <a:lstStyle/>
          <a:p>
            <a:pPr indent="0" marL="0">
              <a:buNone/>
            </a:pPr>
            <a:r>
              <a:rPr lang="en-US" sz="1700" b="1" dirty="0">
                <a:solidFill>
                  <a:srgbClr val="A8573F"/>
                </a:solidFill>
                <a:latin typeface="Aptos" pitchFamily="34" charset="0"/>
                <a:ea typeface="Aptos" pitchFamily="34" charset="-122"/>
                <a:cs typeface="Aptos" pitchFamily="34" charset="-120"/>
              </a:rPr>
              <a:t>These are discussion points, not final proposals or adopted rules.</a:t>
            </a:r>
            <a:endParaRPr lang="en-US" sz="1700" dirty="0"/>
          </a:p>
        </p:txBody>
      </p:sp>
      <p:sp>
        <p:nvSpPr>
          <p:cNvPr id="9" name="Shape 7"/>
          <p:cNvSpPr/>
          <p:nvPr/>
        </p:nvSpPr>
        <p:spPr>
          <a:xfrm>
            <a:off x="5897880" y="1755648"/>
            <a:ext cx="0" cy="3703320"/>
          </a:xfrm>
          <a:prstGeom prst="line">
            <a:avLst/>
          </a:prstGeom>
          <a:noFill/>
          <a:ln w="12700">
            <a:solidFill>
              <a:srgbClr val="C9D8D2"/>
            </a:solidFill>
            <a:prstDash val="solid"/>
          </a:ln>
        </p:spPr>
      </p:sp>
      <p:sp>
        <p:nvSpPr>
          <p:cNvPr id="10" name="Text 8"/>
          <p:cNvSpPr/>
          <p:nvPr/>
        </p:nvSpPr>
        <p:spPr>
          <a:xfrm>
            <a:off x="6400800" y="1783080"/>
            <a:ext cx="310896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Planned topics</a:t>
            </a:r>
            <a:endParaRPr lang="en-US" sz="1500" dirty="0"/>
          </a:p>
        </p:txBody>
      </p:sp>
      <p:sp>
        <p:nvSpPr>
          <p:cNvPr id="11" name="Text 9"/>
          <p:cNvSpPr/>
          <p:nvPr/>
        </p:nvSpPr>
        <p:spPr>
          <a:xfrm>
            <a:off x="6419088" y="2221992"/>
            <a:ext cx="329184" cy="329184"/>
          </a:xfrm>
          <a:prstGeom prst="rect">
            <a:avLst/>
          </a:prstGeom>
          <a:noFill/>
          <a:ln/>
        </p:spPr>
        <p:txBody>
          <a:bodyPr wrap="square" rtlCol="0" anchor="ctr"/>
          <a:lstStyle/>
          <a:p>
            <a:pPr algn="ctr" indent="0" marL="0">
              <a:buNone/>
            </a:pPr>
            <a:r>
              <a:rPr lang="en-US" sz="1550" b="1" dirty="0">
                <a:solidFill>
                  <a:srgbClr val="2B6E62"/>
                </a:solidFill>
                <a:latin typeface="Aptos" pitchFamily="34" charset="0"/>
                <a:ea typeface="Aptos" pitchFamily="34" charset="-122"/>
                <a:cs typeface="Aptos" pitchFamily="34" charset="-120"/>
              </a:rPr>
              <a:t>1</a:t>
            </a:r>
            <a:endParaRPr lang="en-US" sz="1550" dirty="0"/>
          </a:p>
        </p:txBody>
      </p:sp>
      <p:sp>
        <p:nvSpPr>
          <p:cNvPr id="12" name="Text 10"/>
          <p:cNvSpPr/>
          <p:nvPr/>
        </p:nvSpPr>
        <p:spPr>
          <a:xfrm>
            <a:off x="6903720" y="2212848"/>
            <a:ext cx="3840480" cy="329184"/>
          </a:xfrm>
          <a:prstGeom prst="rect">
            <a:avLst/>
          </a:prstGeom>
          <a:noFill/>
          <a:ln/>
        </p:spPr>
        <p:txBody>
          <a:bodyPr wrap="square" rtlCol="0" anchor="ctr">
            <a:normAutofit/>
          </a:bodyPr>
          <a:lstStyle/>
          <a:p>
            <a:pPr indent="0" marL="0">
              <a:buNone/>
            </a:pPr>
            <a:r>
              <a:rPr lang="en-US" sz="2000" b="1" dirty="0">
                <a:solidFill>
                  <a:srgbClr val="17212B"/>
                </a:solidFill>
                <a:latin typeface="Aptos" pitchFamily="34" charset="0"/>
                <a:ea typeface="Aptos" pitchFamily="34" charset="-122"/>
                <a:cs typeface="Aptos" pitchFamily="34" charset="-120"/>
              </a:rPr>
              <a:t>Trash Enclosures</a:t>
            </a:r>
            <a:endParaRPr lang="en-US" sz="2000" dirty="0"/>
          </a:p>
        </p:txBody>
      </p:sp>
      <p:sp>
        <p:nvSpPr>
          <p:cNvPr id="13" name="Text 11"/>
          <p:cNvSpPr/>
          <p:nvPr/>
        </p:nvSpPr>
        <p:spPr>
          <a:xfrm>
            <a:off x="6419088" y="2825496"/>
            <a:ext cx="329184" cy="329184"/>
          </a:xfrm>
          <a:prstGeom prst="rect">
            <a:avLst/>
          </a:prstGeom>
          <a:noFill/>
          <a:ln/>
        </p:spPr>
        <p:txBody>
          <a:bodyPr wrap="square" rtlCol="0" anchor="ctr"/>
          <a:lstStyle/>
          <a:p>
            <a:pPr algn="ctr" indent="0" marL="0">
              <a:buNone/>
            </a:pPr>
            <a:r>
              <a:rPr lang="en-US" sz="1550" b="1" dirty="0">
                <a:solidFill>
                  <a:srgbClr val="2B6E62"/>
                </a:solidFill>
                <a:latin typeface="Aptos" pitchFamily="34" charset="0"/>
                <a:ea typeface="Aptos" pitchFamily="34" charset="-122"/>
                <a:cs typeface="Aptos" pitchFamily="34" charset="-120"/>
              </a:rPr>
              <a:t>2</a:t>
            </a:r>
            <a:endParaRPr lang="en-US" sz="1550" dirty="0"/>
          </a:p>
        </p:txBody>
      </p:sp>
      <p:sp>
        <p:nvSpPr>
          <p:cNvPr id="14" name="Text 12"/>
          <p:cNvSpPr/>
          <p:nvPr/>
        </p:nvSpPr>
        <p:spPr>
          <a:xfrm>
            <a:off x="6903720" y="2816352"/>
            <a:ext cx="3840480" cy="329184"/>
          </a:xfrm>
          <a:prstGeom prst="rect">
            <a:avLst/>
          </a:prstGeom>
          <a:noFill/>
          <a:ln/>
        </p:spPr>
        <p:txBody>
          <a:bodyPr wrap="square" rtlCol="0" anchor="ctr">
            <a:normAutofit/>
          </a:bodyPr>
          <a:lstStyle/>
          <a:p>
            <a:pPr indent="0" marL="0">
              <a:buNone/>
            </a:pPr>
            <a:r>
              <a:rPr lang="en-US" sz="2000" dirty="0">
                <a:solidFill>
                  <a:srgbClr val="17212B"/>
                </a:solidFill>
                <a:latin typeface="Aptos" pitchFamily="34" charset="0"/>
                <a:ea typeface="Aptos" pitchFamily="34" charset="-122"/>
                <a:cs typeface="Aptos" pitchFamily="34" charset="-120"/>
              </a:rPr>
              <a:t>Fire Safe Community</a:t>
            </a:r>
            <a:endParaRPr lang="en-US" sz="2000" dirty="0"/>
          </a:p>
        </p:txBody>
      </p:sp>
      <p:sp>
        <p:nvSpPr>
          <p:cNvPr id="15" name="Text 13"/>
          <p:cNvSpPr/>
          <p:nvPr/>
        </p:nvSpPr>
        <p:spPr>
          <a:xfrm>
            <a:off x="6419088" y="3429000"/>
            <a:ext cx="329184" cy="329184"/>
          </a:xfrm>
          <a:prstGeom prst="rect">
            <a:avLst/>
          </a:prstGeom>
          <a:noFill/>
          <a:ln/>
        </p:spPr>
        <p:txBody>
          <a:bodyPr wrap="square" rtlCol="0" anchor="ctr"/>
          <a:lstStyle/>
          <a:p>
            <a:pPr algn="ctr" indent="0" marL="0">
              <a:buNone/>
            </a:pPr>
            <a:r>
              <a:rPr lang="en-US" sz="1550" b="1" dirty="0">
                <a:solidFill>
                  <a:srgbClr val="2B6E62"/>
                </a:solidFill>
                <a:latin typeface="Aptos" pitchFamily="34" charset="0"/>
                <a:ea typeface="Aptos" pitchFamily="34" charset="-122"/>
                <a:cs typeface="Aptos" pitchFamily="34" charset="-120"/>
              </a:rPr>
              <a:t>3</a:t>
            </a:r>
            <a:endParaRPr lang="en-US" sz="1550" dirty="0"/>
          </a:p>
        </p:txBody>
      </p:sp>
      <p:sp>
        <p:nvSpPr>
          <p:cNvPr id="16" name="Text 14"/>
          <p:cNvSpPr/>
          <p:nvPr/>
        </p:nvSpPr>
        <p:spPr>
          <a:xfrm>
            <a:off x="6903720" y="3419856"/>
            <a:ext cx="3840480" cy="329184"/>
          </a:xfrm>
          <a:prstGeom prst="rect">
            <a:avLst/>
          </a:prstGeom>
          <a:noFill/>
          <a:ln/>
        </p:spPr>
        <p:txBody>
          <a:bodyPr wrap="square" rtlCol="0" anchor="ctr">
            <a:normAutofit/>
          </a:bodyPr>
          <a:lstStyle/>
          <a:p>
            <a:pPr indent="0" marL="0">
              <a:buNone/>
            </a:pPr>
            <a:r>
              <a:rPr lang="en-US" sz="2000" dirty="0">
                <a:solidFill>
                  <a:srgbClr val="17212B"/>
                </a:solidFill>
                <a:latin typeface="Aptos" pitchFamily="34" charset="0"/>
                <a:ea typeface="Aptos" pitchFamily="34" charset="-122"/>
                <a:cs typeface="Aptos" pitchFamily="34" charset="-120"/>
              </a:rPr>
              <a:t>Drainage Easements</a:t>
            </a:r>
            <a:endParaRPr lang="en-US" sz="2000" dirty="0"/>
          </a:p>
        </p:txBody>
      </p:sp>
      <p:sp>
        <p:nvSpPr>
          <p:cNvPr id="17" name="Text 15"/>
          <p:cNvSpPr/>
          <p:nvPr/>
        </p:nvSpPr>
        <p:spPr>
          <a:xfrm>
            <a:off x="6419088" y="4032504"/>
            <a:ext cx="329184" cy="329184"/>
          </a:xfrm>
          <a:prstGeom prst="rect">
            <a:avLst/>
          </a:prstGeom>
          <a:noFill/>
          <a:ln/>
        </p:spPr>
        <p:txBody>
          <a:bodyPr wrap="square" rtlCol="0" anchor="ctr"/>
          <a:lstStyle/>
          <a:p>
            <a:pPr algn="ctr" indent="0" marL="0">
              <a:buNone/>
            </a:pPr>
            <a:r>
              <a:rPr lang="en-US" sz="1550" b="1" dirty="0">
                <a:solidFill>
                  <a:srgbClr val="2B6E62"/>
                </a:solidFill>
                <a:latin typeface="Aptos" pitchFamily="34" charset="0"/>
                <a:ea typeface="Aptos" pitchFamily="34" charset="-122"/>
                <a:cs typeface="Aptos" pitchFamily="34" charset="-120"/>
              </a:rPr>
              <a:t>4</a:t>
            </a:r>
            <a:endParaRPr lang="en-US" sz="1550" dirty="0"/>
          </a:p>
        </p:txBody>
      </p:sp>
      <p:sp>
        <p:nvSpPr>
          <p:cNvPr id="18" name="Text 16"/>
          <p:cNvSpPr/>
          <p:nvPr/>
        </p:nvSpPr>
        <p:spPr>
          <a:xfrm>
            <a:off x="6903720" y="4023360"/>
            <a:ext cx="3840480" cy="329184"/>
          </a:xfrm>
          <a:prstGeom prst="rect">
            <a:avLst/>
          </a:prstGeom>
          <a:noFill/>
          <a:ln/>
        </p:spPr>
        <p:txBody>
          <a:bodyPr wrap="square" rtlCol="0" anchor="ctr">
            <a:normAutofit/>
          </a:bodyPr>
          <a:lstStyle/>
          <a:p>
            <a:pPr indent="0" marL="0">
              <a:buNone/>
            </a:pPr>
            <a:r>
              <a:rPr lang="en-US" sz="2000" dirty="0">
                <a:solidFill>
                  <a:srgbClr val="17212B"/>
                </a:solidFill>
                <a:latin typeface="Aptos" pitchFamily="34" charset="0"/>
                <a:ea typeface="Aptos" pitchFamily="34" charset="-122"/>
                <a:cs typeface="Aptos" pitchFamily="34" charset="-120"/>
              </a:rPr>
              <a:t>Aesthetic Preferences</a:t>
            </a:r>
            <a:endParaRPr lang="en-US" sz="2000" dirty="0"/>
          </a:p>
        </p:txBody>
      </p:sp>
      <p:sp>
        <p:nvSpPr>
          <p:cNvPr id="19" name="Text 17"/>
          <p:cNvSpPr/>
          <p:nvPr/>
        </p:nvSpPr>
        <p:spPr>
          <a:xfrm>
            <a:off x="6419088" y="4636008"/>
            <a:ext cx="329184" cy="329184"/>
          </a:xfrm>
          <a:prstGeom prst="rect">
            <a:avLst/>
          </a:prstGeom>
          <a:noFill/>
          <a:ln/>
        </p:spPr>
        <p:txBody>
          <a:bodyPr wrap="square" rtlCol="0" anchor="ctr"/>
          <a:lstStyle/>
          <a:p>
            <a:pPr algn="ctr" indent="0" marL="0">
              <a:buNone/>
            </a:pPr>
            <a:r>
              <a:rPr lang="en-US" sz="1550" b="1" dirty="0">
                <a:solidFill>
                  <a:srgbClr val="2B6E62"/>
                </a:solidFill>
                <a:latin typeface="Aptos" pitchFamily="34" charset="0"/>
                <a:ea typeface="Aptos" pitchFamily="34" charset="-122"/>
                <a:cs typeface="Aptos" pitchFamily="34" charset="-120"/>
              </a:rPr>
              <a:t>5</a:t>
            </a:r>
            <a:endParaRPr lang="en-US" sz="1550" dirty="0"/>
          </a:p>
        </p:txBody>
      </p:sp>
      <p:sp>
        <p:nvSpPr>
          <p:cNvPr id="20" name="Text 18"/>
          <p:cNvSpPr/>
          <p:nvPr/>
        </p:nvSpPr>
        <p:spPr>
          <a:xfrm>
            <a:off x="6903720" y="4626864"/>
            <a:ext cx="3840480" cy="329184"/>
          </a:xfrm>
          <a:prstGeom prst="rect">
            <a:avLst/>
          </a:prstGeom>
          <a:noFill/>
          <a:ln/>
        </p:spPr>
        <p:txBody>
          <a:bodyPr wrap="square" rtlCol="0" anchor="ctr">
            <a:normAutofit/>
          </a:bodyPr>
          <a:lstStyle/>
          <a:p>
            <a:pPr indent="0" marL="0">
              <a:buNone/>
            </a:pPr>
            <a:r>
              <a:rPr lang="en-US" sz="2000" dirty="0">
                <a:solidFill>
                  <a:srgbClr val="17212B"/>
                </a:solidFill>
                <a:latin typeface="Aptos" pitchFamily="34" charset="0"/>
                <a:ea typeface="Aptos" pitchFamily="34" charset="-122"/>
                <a:cs typeface="Aptos" pitchFamily="34" charset="-120"/>
              </a:rPr>
              <a:t>Approval for Softscaping</a:t>
            </a:r>
            <a:endParaRPr lang="en-US" sz="2000" dirty="0"/>
          </a:p>
        </p:txBody>
      </p:sp>
      <p:sp>
        <p:nvSpPr>
          <p:cNvPr id="21" name="Shape 19"/>
          <p:cNvSpPr/>
          <p:nvPr/>
        </p:nvSpPr>
        <p:spPr>
          <a:xfrm>
            <a:off x="594360" y="6345936"/>
            <a:ext cx="10972800" cy="0"/>
          </a:xfrm>
          <a:prstGeom prst="line">
            <a:avLst/>
          </a:prstGeom>
          <a:noFill/>
          <a:ln w="12700">
            <a:solidFill>
              <a:srgbClr val="C9D8D2"/>
            </a:solidFill>
            <a:prstDash val="solid"/>
          </a:ln>
        </p:spPr>
      </p:sp>
      <p:sp>
        <p:nvSpPr>
          <p:cNvPr id="22" name="Text 20"/>
          <p:cNvSpPr/>
          <p:nvPr/>
        </p:nvSpPr>
        <p:spPr>
          <a:xfrm>
            <a:off x="594360" y="6446520"/>
            <a:ext cx="9966960" cy="201168"/>
          </a:xfrm>
          <a:prstGeom prst="rect">
            <a:avLst/>
          </a:prstGeom>
          <a:noFill/>
          <a:ln/>
        </p:spPr>
        <p:txBody>
          <a:bodyPr wrap="square" rtlCol="0" anchor="ctr">
            <a:normAutofit/>
          </a:bodyPr>
          <a:lstStyle/>
          <a:p>
            <a:pPr indent="0" marL="0">
              <a:buNone/>
            </a:pPr>
            <a:r>
              <a:rPr lang="en-US" sz="950" dirty="0">
                <a:solidFill>
                  <a:srgbClr val="5E6B78"/>
                </a:solidFill>
                <a:latin typeface="Aptos" pitchFamily="34" charset="0"/>
                <a:ea typeface="Aptos" pitchFamily="34" charset="-122"/>
                <a:cs typeface="Aptos" pitchFamily="34" charset="-120"/>
              </a:rPr>
              <a:t>Agenda based on the ACC forum email to the Board and the five listed discussion topics.</a:t>
            </a:r>
            <a:endParaRPr lang="en-US" sz="950" dirty="0"/>
          </a:p>
        </p:txBody>
      </p:sp>
      <p:sp>
        <p:nvSpPr>
          <p:cNvPr id="23" name="Text 21"/>
          <p:cNvSpPr/>
          <p:nvPr/>
        </p:nvSpPr>
        <p:spPr>
          <a:xfrm>
            <a:off x="11064240" y="6419088"/>
            <a:ext cx="502920" cy="228600"/>
          </a:xfrm>
          <a:prstGeom prst="rect">
            <a:avLst/>
          </a:prstGeom>
          <a:noFill/>
          <a:ln/>
        </p:spPr>
        <p:txBody>
          <a:bodyPr wrap="square" rtlCol="0" anchor="ctr"/>
          <a:lstStyle/>
          <a:p>
            <a:pPr algn="r" indent="0" marL="0">
              <a:buNone/>
            </a:pPr>
            <a:r>
              <a:rPr lang="en-US" sz="1000" dirty="0">
                <a:solidFill>
                  <a:srgbClr val="5E6B78"/>
                </a:solidFill>
                <a:latin typeface="Aptos" pitchFamily="34" charset="0"/>
                <a:ea typeface="Aptos" pitchFamily="34" charset="-122"/>
                <a:cs typeface="Aptos"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6E62"/>
          </a:solidFill>
          <a:ln w="12700">
            <a:solidFill>
              <a:srgbClr val="2B6E62"/>
            </a:solidFill>
            <a:prstDash val="solid"/>
          </a:ln>
        </p:spPr>
      </p:sp>
      <p:sp>
        <p:nvSpPr>
          <p:cNvPr id="3" name="Text 1"/>
          <p:cNvSpPr/>
          <p:nvPr/>
        </p:nvSpPr>
        <p:spPr>
          <a:xfrm>
            <a:off x="658368" y="411480"/>
            <a:ext cx="3657600" cy="228600"/>
          </a:xfrm>
          <a:prstGeom prst="rect">
            <a:avLst/>
          </a:prstGeom>
          <a:noFill/>
          <a:ln/>
        </p:spPr>
        <p:txBody>
          <a:bodyPr wrap="square" rtlCol="0" anchor="ctr"/>
          <a:lstStyle/>
          <a:p>
            <a:pPr indent="0" marL="0">
              <a:buNone/>
            </a:pPr>
            <a:r>
              <a:rPr lang="en-US" sz="1050" b="1" dirty="0">
                <a:solidFill>
                  <a:srgbClr val="2B6E62"/>
                </a:solidFill>
                <a:latin typeface="Aptos" pitchFamily="34" charset="0"/>
                <a:ea typeface="Aptos" pitchFamily="34" charset="-122"/>
                <a:cs typeface="Aptos" pitchFamily="34" charset="-120"/>
              </a:rPr>
              <a:t>MEETING STRUCTURE</a:t>
            </a:r>
            <a:endParaRPr lang="en-US" sz="1050" dirty="0"/>
          </a:p>
        </p:txBody>
      </p:sp>
      <p:sp>
        <p:nvSpPr>
          <p:cNvPr id="4" name="Text 2"/>
          <p:cNvSpPr/>
          <p:nvPr/>
        </p:nvSpPr>
        <p:spPr>
          <a:xfrm>
            <a:off x="640080" y="713232"/>
            <a:ext cx="9052560" cy="566928"/>
          </a:xfrm>
          <a:prstGeom prst="rect">
            <a:avLst/>
          </a:prstGeom>
          <a:noFill/>
          <a:ln/>
        </p:spPr>
        <p:txBody>
          <a:bodyPr wrap="square" lIns="0" tIns="0" rIns="0" bIns="0" rtlCol="0" anchor="ctr"/>
          <a:lstStyle/>
          <a:p>
            <a:pPr indent="0" marL="0">
              <a:buNone/>
            </a:pPr>
            <a:r>
              <a:rPr lang="en-US" sz="3000" b="1" dirty="0">
                <a:solidFill>
                  <a:srgbClr val="17212B"/>
                </a:solidFill>
                <a:latin typeface="Aptos Display" pitchFamily="34" charset="0"/>
                <a:ea typeface="Aptos Display" pitchFamily="34" charset="-122"/>
                <a:cs typeface="Aptos Display" pitchFamily="34" charset="-120"/>
              </a:rPr>
              <a:t>A consistent path for each topic</a:t>
            </a:r>
            <a:endParaRPr lang="en-US" sz="3000" dirty="0"/>
          </a:p>
        </p:txBody>
      </p:sp>
      <p:sp>
        <p:nvSpPr>
          <p:cNvPr id="5" name="Text 3"/>
          <p:cNvSpPr/>
          <p:nvPr/>
        </p:nvSpPr>
        <p:spPr>
          <a:xfrm>
            <a:off x="658368" y="1298448"/>
            <a:ext cx="9875520" cy="329184"/>
          </a:xfrm>
          <a:prstGeom prst="rect">
            <a:avLst/>
          </a:prstGeom>
          <a:noFill/>
          <a:ln/>
        </p:spPr>
        <p:txBody>
          <a:bodyPr wrap="square" lIns="0" tIns="0" rIns="0" bIns="0" rtlCol="0" anchor="ctr"/>
          <a:lstStyle/>
          <a:p>
            <a:pPr indent="0" marL="0">
              <a:buNone/>
            </a:pPr>
            <a:r>
              <a:rPr lang="en-US" sz="1350" dirty="0">
                <a:solidFill>
                  <a:srgbClr val="5E6B78"/>
                </a:solidFill>
                <a:latin typeface="Aptos" pitchFamily="34" charset="0"/>
                <a:ea typeface="Aptos" pitchFamily="34" charset="-122"/>
                <a:cs typeface="Aptos" pitchFamily="34" charset="-120"/>
              </a:rPr>
              <a:t>Each topic will be reviewed in the same order so the discussion stays clear, fair, and easy to follow.</a:t>
            </a:r>
            <a:endParaRPr lang="en-US" sz="1350" dirty="0"/>
          </a:p>
        </p:txBody>
      </p:sp>
      <p:sp>
        <p:nvSpPr>
          <p:cNvPr id="6" name="Shape 4"/>
          <p:cNvSpPr/>
          <p:nvPr/>
        </p:nvSpPr>
        <p:spPr>
          <a:xfrm>
            <a:off x="777240" y="1810512"/>
            <a:ext cx="10378440" cy="658368"/>
          </a:xfrm>
          <a:prstGeom prst="roundRect">
            <a:avLst>
              <a:gd name="adj" fmla="val 9722"/>
            </a:avLst>
          </a:prstGeom>
          <a:solidFill>
            <a:srgbClr val="F5F8F6"/>
          </a:solidFill>
          <a:ln w="8890">
            <a:solidFill>
              <a:srgbClr val="C9D8D2"/>
            </a:solidFill>
            <a:prstDash val="solid"/>
          </a:ln>
        </p:spPr>
      </p:sp>
      <p:sp>
        <p:nvSpPr>
          <p:cNvPr id="7" name="Text 5"/>
          <p:cNvSpPr/>
          <p:nvPr/>
        </p:nvSpPr>
        <p:spPr>
          <a:xfrm>
            <a:off x="1051560" y="1920240"/>
            <a:ext cx="2926080" cy="256032"/>
          </a:xfrm>
          <a:prstGeom prst="rect">
            <a:avLst/>
          </a:prstGeom>
          <a:noFill/>
          <a:ln/>
        </p:spPr>
        <p:txBody>
          <a:bodyPr wrap="square" lIns="0" tIns="0" rIns="0" bIns="0" rtlCol="0" anchor="ctr"/>
          <a:lstStyle/>
          <a:p>
            <a:pPr indent="0" marL="0">
              <a:buNone/>
            </a:pPr>
            <a:r>
              <a:rPr lang="en-US" sz="1600" b="1" dirty="0">
                <a:solidFill>
                  <a:srgbClr val="2B6E62"/>
                </a:solidFill>
                <a:latin typeface="Aptos" pitchFamily="34" charset="0"/>
                <a:ea typeface="Aptos" pitchFamily="34" charset="-122"/>
                <a:cs typeface="Aptos" pitchFamily="34" charset="-120"/>
              </a:rPr>
              <a:t>1. Governing language</a:t>
            </a:r>
            <a:endParaRPr lang="en-US" sz="1600" dirty="0"/>
          </a:p>
        </p:txBody>
      </p:sp>
      <p:sp>
        <p:nvSpPr>
          <p:cNvPr id="8" name="Text 6"/>
          <p:cNvSpPr/>
          <p:nvPr/>
        </p:nvSpPr>
        <p:spPr>
          <a:xfrm>
            <a:off x="4069080" y="1920240"/>
            <a:ext cx="6720840" cy="292608"/>
          </a:xfrm>
          <a:prstGeom prst="rect">
            <a:avLst/>
          </a:prstGeom>
          <a:noFill/>
          <a:ln/>
        </p:spPr>
        <p:txBody>
          <a:bodyPr wrap="square" lIns="0" tIns="0" rIns="0" bIns="0" rtlCol="0" anchor="ctr">
            <a:normAutofit/>
          </a:bodyPr>
          <a:lstStyle/>
          <a:p>
            <a:pPr indent="0" marL="0">
              <a:buNone/>
            </a:pPr>
            <a:r>
              <a:rPr lang="en-US" sz="1550" dirty="0">
                <a:solidFill>
                  <a:srgbClr val="17212B"/>
                </a:solidFill>
                <a:latin typeface="Aptos" pitchFamily="34" charset="0"/>
                <a:ea typeface="Aptos" pitchFamily="34" charset="-122"/>
                <a:cs typeface="Aptos" pitchFamily="34" charset="-120"/>
              </a:rPr>
              <a:t>Start with the relevant CCR, amendment, or ARC guideline language.</a:t>
            </a:r>
            <a:endParaRPr lang="en-US" sz="1550" dirty="0"/>
          </a:p>
        </p:txBody>
      </p:sp>
      <p:sp>
        <p:nvSpPr>
          <p:cNvPr id="9" name="Shape 7"/>
          <p:cNvSpPr/>
          <p:nvPr/>
        </p:nvSpPr>
        <p:spPr>
          <a:xfrm>
            <a:off x="777240" y="2761488"/>
            <a:ext cx="10378440" cy="658368"/>
          </a:xfrm>
          <a:prstGeom prst="roundRect">
            <a:avLst>
              <a:gd name="adj" fmla="val 9722"/>
            </a:avLst>
          </a:prstGeom>
          <a:solidFill>
            <a:srgbClr val="F7FAF8"/>
          </a:solidFill>
          <a:ln w="8890">
            <a:solidFill>
              <a:srgbClr val="C9D8D2"/>
            </a:solidFill>
            <a:prstDash val="solid"/>
          </a:ln>
        </p:spPr>
      </p:sp>
      <p:sp>
        <p:nvSpPr>
          <p:cNvPr id="10" name="Text 8"/>
          <p:cNvSpPr/>
          <p:nvPr/>
        </p:nvSpPr>
        <p:spPr>
          <a:xfrm>
            <a:off x="1051560" y="2871216"/>
            <a:ext cx="2926080" cy="256032"/>
          </a:xfrm>
          <a:prstGeom prst="rect">
            <a:avLst/>
          </a:prstGeom>
          <a:noFill/>
          <a:ln/>
        </p:spPr>
        <p:txBody>
          <a:bodyPr wrap="square" lIns="0" tIns="0" rIns="0" bIns="0" rtlCol="0" anchor="ctr"/>
          <a:lstStyle/>
          <a:p>
            <a:pPr indent="0" marL="0">
              <a:buNone/>
            </a:pPr>
            <a:r>
              <a:rPr lang="en-US" sz="1600" b="1" dirty="0">
                <a:solidFill>
                  <a:srgbClr val="2B6E62"/>
                </a:solidFill>
                <a:latin typeface="Aptos" pitchFamily="34" charset="0"/>
                <a:ea typeface="Aptos" pitchFamily="34" charset="-122"/>
                <a:cs typeface="Aptos" pitchFamily="34" charset="-120"/>
              </a:rPr>
              <a:t>2. Concerns to discuss</a:t>
            </a:r>
            <a:endParaRPr lang="en-US" sz="1600" dirty="0"/>
          </a:p>
        </p:txBody>
      </p:sp>
      <p:sp>
        <p:nvSpPr>
          <p:cNvPr id="11" name="Text 9"/>
          <p:cNvSpPr/>
          <p:nvPr/>
        </p:nvSpPr>
        <p:spPr>
          <a:xfrm>
            <a:off x="4069080" y="2871216"/>
            <a:ext cx="6720840" cy="292608"/>
          </a:xfrm>
          <a:prstGeom prst="rect">
            <a:avLst/>
          </a:prstGeom>
          <a:noFill/>
          <a:ln/>
        </p:spPr>
        <p:txBody>
          <a:bodyPr wrap="square" lIns="0" tIns="0" rIns="0" bIns="0" rtlCol="0" anchor="ctr">
            <a:normAutofit/>
          </a:bodyPr>
          <a:lstStyle/>
          <a:p>
            <a:pPr indent="0" marL="0">
              <a:buNone/>
            </a:pPr>
            <a:r>
              <a:rPr lang="en-US" sz="1550" dirty="0">
                <a:solidFill>
                  <a:srgbClr val="17212B"/>
                </a:solidFill>
                <a:latin typeface="Aptos" pitchFamily="34" charset="0"/>
                <a:ea typeface="Aptos" pitchFamily="34" charset="-122"/>
                <a:cs typeface="Aptos" pitchFamily="34" charset="-120"/>
              </a:rPr>
              <a:t>Name the practical homeowner, access, appearance, or consistency concerns.</a:t>
            </a:r>
            <a:endParaRPr lang="en-US" sz="1550" dirty="0"/>
          </a:p>
        </p:txBody>
      </p:sp>
      <p:sp>
        <p:nvSpPr>
          <p:cNvPr id="12" name="Shape 10"/>
          <p:cNvSpPr/>
          <p:nvPr/>
        </p:nvSpPr>
        <p:spPr>
          <a:xfrm>
            <a:off x="777240" y="3712464"/>
            <a:ext cx="10378440" cy="658368"/>
          </a:xfrm>
          <a:prstGeom prst="roundRect">
            <a:avLst>
              <a:gd name="adj" fmla="val 9722"/>
            </a:avLst>
          </a:prstGeom>
          <a:solidFill>
            <a:srgbClr val="F5F8F6"/>
          </a:solidFill>
          <a:ln w="8890">
            <a:solidFill>
              <a:srgbClr val="C9D8D2"/>
            </a:solidFill>
            <a:prstDash val="solid"/>
          </a:ln>
        </p:spPr>
      </p:sp>
      <p:sp>
        <p:nvSpPr>
          <p:cNvPr id="13" name="Text 11"/>
          <p:cNvSpPr/>
          <p:nvPr/>
        </p:nvSpPr>
        <p:spPr>
          <a:xfrm>
            <a:off x="1051560" y="3822192"/>
            <a:ext cx="2926080" cy="256032"/>
          </a:xfrm>
          <a:prstGeom prst="rect">
            <a:avLst/>
          </a:prstGeom>
          <a:noFill/>
          <a:ln/>
        </p:spPr>
        <p:txBody>
          <a:bodyPr wrap="square" lIns="0" tIns="0" rIns="0" bIns="0" rtlCol="0" anchor="ctr"/>
          <a:lstStyle/>
          <a:p>
            <a:pPr indent="0" marL="0">
              <a:buNone/>
            </a:pPr>
            <a:r>
              <a:rPr lang="en-US" sz="1600" b="1" dirty="0">
                <a:solidFill>
                  <a:srgbClr val="2B6E62"/>
                </a:solidFill>
                <a:latin typeface="Aptos" pitchFamily="34" charset="0"/>
                <a:ea typeface="Aptos" pitchFamily="34" charset="-122"/>
                <a:cs typeface="Aptos" pitchFamily="34" charset="-120"/>
              </a:rPr>
              <a:t>3. Community feedback</a:t>
            </a:r>
            <a:endParaRPr lang="en-US" sz="1600" dirty="0"/>
          </a:p>
        </p:txBody>
      </p:sp>
      <p:sp>
        <p:nvSpPr>
          <p:cNvPr id="14" name="Text 12"/>
          <p:cNvSpPr/>
          <p:nvPr/>
        </p:nvSpPr>
        <p:spPr>
          <a:xfrm>
            <a:off x="4069080" y="3822192"/>
            <a:ext cx="6720840" cy="292608"/>
          </a:xfrm>
          <a:prstGeom prst="rect">
            <a:avLst/>
          </a:prstGeom>
          <a:noFill/>
          <a:ln/>
        </p:spPr>
        <p:txBody>
          <a:bodyPr wrap="square" lIns="0" tIns="0" rIns="0" bIns="0" rtlCol="0" anchor="ctr">
            <a:normAutofit/>
          </a:bodyPr>
          <a:lstStyle/>
          <a:p>
            <a:pPr indent="0" marL="0">
              <a:buNone/>
            </a:pPr>
            <a:r>
              <a:rPr lang="en-US" sz="1550" dirty="0">
                <a:solidFill>
                  <a:srgbClr val="17212B"/>
                </a:solidFill>
                <a:latin typeface="Aptos" pitchFamily="34" charset="0"/>
                <a:ea typeface="Aptos" pitchFamily="34" charset="-122"/>
                <a:cs typeface="Aptos" pitchFamily="34" charset="-120"/>
              </a:rPr>
              <a:t>Invite comments, examples, and tradeoffs from neighbors.</a:t>
            </a:r>
            <a:endParaRPr lang="en-US" sz="1550" dirty="0"/>
          </a:p>
        </p:txBody>
      </p:sp>
      <p:sp>
        <p:nvSpPr>
          <p:cNvPr id="15" name="Shape 13"/>
          <p:cNvSpPr/>
          <p:nvPr/>
        </p:nvSpPr>
        <p:spPr>
          <a:xfrm>
            <a:off x="777240" y="4663440"/>
            <a:ext cx="10378440" cy="658368"/>
          </a:xfrm>
          <a:prstGeom prst="roundRect">
            <a:avLst>
              <a:gd name="adj" fmla="val 9722"/>
            </a:avLst>
          </a:prstGeom>
          <a:solidFill>
            <a:srgbClr val="F7FAF8"/>
          </a:solidFill>
          <a:ln w="8890">
            <a:solidFill>
              <a:srgbClr val="C9D8D2"/>
            </a:solidFill>
            <a:prstDash val="solid"/>
          </a:ln>
        </p:spPr>
      </p:sp>
      <p:sp>
        <p:nvSpPr>
          <p:cNvPr id="16" name="Text 14"/>
          <p:cNvSpPr/>
          <p:nvPr/>
        </p:nvSpPr>
        <p:spPr>
          <a:xfrm>
            <a:off x="1051560" y="4773168"/>
            <a:ext cx="2926080" cy="256032"/>
          </a:xfrm>
          <a:prstGeom prst="rect">
            <a:avLst/>
          </a:prstGeom>
          <a:noFill/>
          <a:ln/>
        </p:spPr>
        <p:txBody>
          <a:bodyPr wrap="square" lIns="0" tIns="0" rIns="0" bIns="0" rtlCol="0" anchor="ctr"/>
          <a:lstStyle/>
          <a:p>
            <a:pPr indent="0" marL="0">
              <a:buNone/>
            </a:pPr>
            <a:r>
              <a:rPr lang="en-US" sz="1600" b="1" dirty="0">
                <a:solidFill>
                  <a:srgbClr val="2B6E62"/>
                </a:solidFill>
                <a:latin typeface="Aptos" pitchFamily="34" charset="0"/>
                <a:ea typeface="Aptos" pitchFamily="34" charset="-122"/>
                <a:cs typeface="Aptos" pitchFamily="34" charset="-120"/>
              </a:rPr>
              <a:t>4. Follow-up path</a:t>
            </a:r>
            <a:endParaRPr lang="en-US" sz="1600" dirty="0"/>
          </a:p>
        </p:txBody>
      </p:sp>
      <p:sp>
        <p:nvSpPr>
          <p:cNvPr id="17" name="Text 15"/>
          <p:cNvSpPr/>
          <p:nvPr/>
        </p:nvSpPr>
        <p:spPr>
          <a:xfrm>
            <a:off x="4069080" y="4773168"/>
            <a:ext cx="6720840" cy="292608"/>
          </a:xfrm>
          <a:prstGeom prst="rect">
            <a:avLst/>
          </a:prstGeom>
          <a:noFill/>
          <a:ln/>
        </p:spPr>
        <p:txBody>
          <a:bodyPr wrap="square" lIns="0" tIns="0" rIns="0" bIns="0" rtlCol="0" anchor="ctr">
            <a:normAutofit/>
          </a:bodyPr>
          <a:lstStyle/>
          <a:p>
            <a:pPr indent="0" marL="0">
              <a:buNone/>
            </a:pPr>
            <a:r>
              <a:rPr lang="en-US" sz="1550" dirty="0">
                <a:solidFill>
                  <a:srgbClr val="17212B"/>
                </a:solidFill>
                <a:latin typeface="Aptos" pitchFamily="34" charset="0"/>
                <a:ea typeface="Aptos" pitchFamily="34" charset="-122"/>
                <a:cs typeface="Aptos" pitchFamily="34" charset="-120"/>
              </a:rPr>
              <a:t>Capture items that may need Board, CAMS, legal, or future amendment review.</a:t>
            </a:r>
            <a:endParaRPr lang="en-US" sz="1550" dirty="0"/>
          </a:p>
        </p:txBody>
      </p:sp>
      <p:sp>
        <p:nvSpPr>
          <p:cNvPr id="18" name="Shape 16"/>
          <p:cNvSpPr/>
          <p:nvPr/>
        </p:nvSpPr>
        <p:spPr>
          <a:xfrm>
            <a:off x="594360" y="6345936"/>
            <a:ext cx="10972800" cy="0"/>
          </a:xfrm>
          <a:prstGeom prst="line">
            <a:avLst/>
          </a:prstGeom>
          <a:noFill/>
          <a:ln w="12700">
            <a:solidFill>
              <a:srgbClr val="C9D8D2"/>
            </a:solidFill>
            <a:prstDash val="solid"/>
          </a:ln>
        </p:spPr>
      </p:sp>
      <p:sp>
        <p:nvSpPr>
          <p:cNvPr id="19" name="Text 17"/>
          <p:cNvSpPr/>
          <p:nvPr/>
        </p:nvSpPr>
        <p:spPr>
          <a:xfrm>
            <a:off x="594360" y="6446520"/>
            <a:ext cx="9966960" cy="201168"/>
          </a:xfrm>
          <a:prstGeom prst="rect">
            <a:avLst/>
          </a:prstGeom>
          <a:noFill/>
          <a:ln/>
        </p:spPr>
        <p:txBody>
          <a:bodyPr wrap="square" rtlCol="0" anchor="ctr">
            <a:normAutofit/>
          </a:bodyPr>
          <a:lstStyle/>
          <a:p>
            <a:pPr indent="0" marL="0">
              <a:buNone/>
            </a:pPr>
            <a:r>
              <a:rPr lang="en-US" sz="950" dirty="0">
                <a:solidFill>
                  <a:srgbClr val="5E6B78"/>
                </a:solidFill>
                <a:latin typeface="Aptos" pitchFamily="34" charset="0"/>
                <a:ea typeface="Aptos" pitchFamily="34" charset="-122"/>
                <a:cs typeface="Aptos" pitchFamily="34" charset="-120"/>
              </a:rPr>
              <a:t>Discussion format for live meeting facilitation.</a:t>
            </a:r>
            <a:endParaRPr lang="en-US" sz="950" dirty="0"/>
          </a:p>
        </p:txBody>
      </p:sp>
      <p:sp>
        <p:nvSpPr>
          <p:cNvPr id="20" name="Text 18"/>
          <p:cNvSpPr/>
          <p:nvPr/>
        </p:nvSpPr>
        <p:spPr>
          <a:xfrm>
            <a:off x="11064240" y="6419088"/>
            <a:ext cx="502920" cy="228600"/>
          </a:xfrm>
          <a:prstGeom prst="rect">
            <a:avLst/>
          </a:prstGeom>
          <a:noFill/>
          <a:ln/>
        </p:spPr>
        <p:txBody>
          <a:bodyPr wrap="square" rtlCol="0" anchor="ctr"/>
          <a:lstStyle/>
          <a:p>
            <a:pPr algn="r" indent="0" marL="0">
              <a:buNone/>
            </a:pPr>
            <a:r>
              <a:rPr lang="en-US" sz="1000" dirty="0">
                <a:solidFill>
                  <a:srgbClr val="5E6B78"/>
                </a:solidFill>
                <a:latin typeface="Aptos" pitchFamily="34" charset="0"/>
                <a:ea typeface="Aptos" pitchFamily="34" charset="-122"/>
                <a:cs typeface="Aptos"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6E62"/>
          </a:solidFill>
          <a:ln w="12700">
            <a:solidFill>
              <a:srgbClr val="2B6E62"/>
            </a:solidFill>
            <a:prstDash val="solid"/>
          </a:ln>
        </p:spPr>
      </p:sp>
      <p:sp>
        <p:nvSpPr>
          <p:cNvPr id="3" name="Text 1"/>
          <p:cNvSpPr/>
          <p:nvPr/>
        </p:nvSpPr>
        <p:spPr>
          <a:xfrm>
            <a:off x="658368" y="411480"/>
            <a:ext cx="3657600" cy="228600"/>
          </a:xfrm>
          <a:prstGeom prst="rect">
            <a:avLst/>
          </a:prstGeom>
          <a:noFill/>
          <a:ln/>
        </p:spPr>
        <p:txBody>
          <a:bodyPr wrap="square" rtlCol="0" anchor="ctr"/>
          <a:lstStyle/>
          <a:p>
            <a:pPr indent="0" marL="0">
              <a:buNone/>
            </a:pPr>
            <a:r>
              <a:rPr lang="en-US" sz="1050" b="1" dirty="0">
                <a:solidFill>
                  <a:srgbClr val="2B6E62"/>
                </a:solidFill>
                <a:latin typeface="Aptos" pitchFamily="34" charset="0"/>
                <a:ea typeface="Aptos" pitchFamily="34" charset="-122"/>
                <a:cs typeface="Aptos" pitchFamily="34" charset="-120"/>
              </a:rPr>
              <a:t>TOPIC 1</a:t>
            </a:r>
            <a:endParaRPr lang="en-US" sz="1050" dirty="0"/>
          </a:p>
        </p:txBody>
      </p:sp>
      <p:sp>
        <p:nvSpPr>
          <p:cNvPr id="4" name="Text 2"/>
          <p:cNvSpPr/>
          <p:nvPr/>
        </p:nvSpPr>
        <p:spPr>
          <a:xfrm>
            <a:off x="640080" y="713232"/>
            <a:ext cx="9052560" cy="566928"/>
          </a:xfrm>
          <a:prstGeom prst="rect">
            <a:avLst/>
          </a:prstGeom>
          <a:noFill/>
          <a:ln/>
        </p:spPr>
        <p:txBody>
          <a:bodyPr wrap="square" lIns="0" tIns="0" rIns="0" bIns="0" rtlCol="0" anchor="ctr"/>
          <a:lstStyle/>
          <a:p>
            <a:pPr indent="0" marL="0">
              <a:buNone/>
            </a:pPr>
            <a:r>
              <a:rPr lang="en-US" sz="3000" b="1" dirty="0">
                <a:solidFill>
                  <a:srgbClr val="17212B"/>
                </a:solidFill>
                <a:latin typeface="Aptos Display" pitchFamily="34" charset="0"/>
                <a:ea typeface="Aptos Display" pitchFamily="34" charset="-122"/>
                <a:cs typeface="Aptos Display" pitchFamily="34" charset="-120"/>
              </a:rPr>
              <a:t>Trash Enclosures</a:t>
            </a:r>
            <a:endParaRPr lang="en-US" sz="3000" dirty="0"/>
          </a:p>
        </p:txBody>
      </p:sp>
      <p:sp>
        <p:nvSpPr>
          <p:cNvPr id="5" name="Text 3"/>
          <p:cNvSpPr/>
          <p:nvPr/>
        </p:nvSpPr>
        <p:spPr>
          <a:xfrm>
            <a:off x="658368" y="1298448"/>
            <a:ext cx="9875520" cy="329184"/>
          </a:xfrm>
          <a:prstGeom prst="rect">
            <a:avLst/>
          </a:prstGeom>
          <a:noFill/>
          <a:ln/>
        </p:spPr>
        <p:txBody>
          <a:bodyPr wrap="square" lIns="0" tIns="0" rIns="0" bIns="0" rtlCol="0" anchor="ctr"/>
          <a:lstStyle/>
          <a:p>
            <a:pPr indent="0" marL="0">
              <a:buNone/>
            </a:pPr>
            <a:r>
              <a:rPr lang="en-US" sz="1350" dirty="0">
                <a:solidFill>
                  <a:srgbClr val="5E6B78"/>
                </a:solidFill>
                <a:latin typeface="Aptos" pitchFamily="34" charset="0"/>
                <a:ea typeface="Aptos" pitchFamily="34" charset="-122"/>
                <a:cs typeface="Aptos" pitchFamily="34" charset="-120"/>
              </a:rPr>
              <a:t>Priority #1</a:t>
            </a:r>
            <a:endParaRPr lang="en-US" sz="1350" dirty="0"/>
          </a:p>
        </p:txBody>
      </p:sp>
      <p:sp>
        <p:nvSpPr>
          <p:cNvPr id="6" name="Text 4"/>
          <p:cNvSpPr/>
          <p:nvPr/>
        </p:nvSpPr>
        <p:spPr>
          <a:xfrm>
            <a:off x="713232" y="1719072"/>
            <a:ext cx="448056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Governing language</a:t>
            </a:r>
            <a:endParaRPr lang="en-US" sz="1500" dirty="0"/>
          </a:p>
        </p:txBody>
      </p:sp>
      <p:sp>
        <p:nvSpPr>
          <p:cNvPr id="7" name="Text 5"/>
          <p:cNvSpPr/>
          <p:nvPr/>
        </p:nvSpPr>
        <p:spPr>
          <a:xfrm>
            <a:off x="713232" y="2148840"/>
            <a:ext cx="5394960" cy="2926080"/>
          </a:xfrm>
          <a:prstGeom prst="rect">
            <a:avLst/>
          </a:prstGeom>
          <a:noFill/>
          <a:ln/>
        </p:spPr>
        <p:txBody>
          <a:bodyPr wrap="square" lIns="254" tIns="254" rIns="254" bIns="254"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"Garbage can enclosures shall be comprised of an installed or securely anchored wood or reinforced white vinyl/PVC lattice screen(s) no taller than 4 1/2 feet. Garbage/trash can area screens, shall be of a width to completely hide garbage cans and its contents from the street."</a:t>
            </a:r>
            <a:endParaRPr lang="en-US" sz="2050" dirty="0"/>
          </a:p>
        </p:txBody>
      </p:sp>
      <p:sp>
        <p:nvSpPr>
          <p:cNvPr id="8" name="Shape 6"/>
          <p:cNvSpPr/>
          <p:nvPr/>
        </p:nvSpPr>
        <p:spPr>
          <a:xfrm>
            <a:off x="6355080" y="1783080"/>
            <a:ext cx="0" cy="3749040"/>
          </a:xfrm>
          <a:prstGeom prst="line">
            <a:avLst/>
          </a:prstGeom>
          <a:noFill/>
          <a:ln w="13970">
            <a:solidFill>
              <a:srgbClr val="C9D8D2"/>
            </a:solidFill>
            <a:prstDash val="solid"/>
          </a:ln>
        </p:spPr>
      </p:sp>
      <p:sp>
        <p:nvSpPr>
          <p:cNvPr id="9" name="Text 7"/>
          <p:cNvSpPr/>
          <p:nvPr/>
        </p:nvSpPr>
        <p:spPr>
          <a:xfrm>
            <a:off x="6784848" y="1719072"/>
            <a:ext cx="411480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Concerns to discuss</a:t>
            </a:r>
            <a:endParaRPr lang="en-US" sz="1500" dirty="0"/>
          </a:p>
        </p:txBody>
      </p:sp>
      <p:sp>
        <p:nvSpPr>
          <p:cNvPr id="10" name="Shape 8"/>
          <p:cNvSpPr/>
          <p:nvPr/>
        </p:nvSpPr>
        <p:spPr>
          <a:xfrm>
            <a:off x="6821424" y="2331720"/>
            <a:ext cx="82296" cy="82296"/>
          </a:xfrm>
          <a:prstGeom prst="ellipse">
            <a:avLst/>
          </a:prstGeom>
          <a:solidFill>
            <a:srgbClr val="C99A3F"/>
          </a:solidFill>
          <a:ln w="12700">
            <a:solidFill>
              <a:srgbClr val="C99A3F"/>
            </a:solidFill>
            <a:prstDash val="solid"/>
          </a:ln>
        </p:spPr>
      </p:sp>
      <p:sp>
        <p:nvSpPr>
          <p:cNvPr id="11" name="Text 9"/>
          <p:cNvSpPr/>
          <p:nvPr/>
        </p:nvSpPr>
        <p:spPr>
          <a:xfrm>
            <a:off x="7022592" y="2231136"/>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Curb appeal and consistent screening</a:t>
            </a:r>
            <a:endParaRPr lang="en-US" sz="2050" dirty="0"/>
          </a:p>
        </p:txBody>
      </p:sp>
      <p:sp>
        <p:nvSpPr>
          <p:cNvPr id="12" name="Shape 10"/>
          <p:cNvSpPr/>
          <p:nvPr/>
        </p:nvSpPr>
        <p:spPr>
          <a:xfrm>
            <a:off x="6821424" y="2935224"/>
            <a:ext cx="82296" cy="82296"/>
          </a:xfrm>
          <a:prstGeom prst="ellipse">
            <a:avLst/>
          </a:prstGeom>
          <a:solidFill>
            <a:srgbClr val="C99A3F"/>
          </a:solidFill>
          <a:ln w="12700">
            <a:solidFill>
              <a:srgbClr val="C99A3F"/>
            </a:solidFill>
            <a:prstDash val="solid"/>
          </a:ln>
        </p:spPr>
      </p:sp>
      <p:sp>
        <p:nvSpPr>
          <p:cNvPr id="13" name="Text 11"/>
          <p:cNvSpPr/>
          <p:nvPr/>
        </p:nvSpPr>
        <p:spPr>
          <a:xfrm>
            <a:off x="7022592" y="2834640"/>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Sightlines from front and corner lots</a:t>
            </a:r>
            <a:endParaRPr lang="en-US" sz="2050" dirty="0"/>
          </a:p>
        </p:txBody>
      </p:sp>
      <p:sp>
        <p:nvSpPr>
          <p:cNvPr id="14" name="Shape 12"/>
          <p:cNvSpPr/>
          <p:nvPr/>
        </p:nvSpPr>
        <p:spPr>
          <a:xfrm>
            <a:off x="6821424" y="3538728"/>
            <a:ext cx="82296" cy="82296"/>
          </a:xfrm>
          <a:prstGeom prst="ellipse">
            <a:avLst/>
          </a:prstGeom>
          <a:solidFill>
            <a:srgbClr val="C99A3F"/>
          </a:solidFill>
          <a:ln w="12700">
            <a:solidFill>
              <a:srgbClr val="C99A3F"/>
            </a:solidFill>
            <a:prstDash val="solid"/>
          </a:ln>
        </p:spPr>
      </p:sp>
      <p:sp>
        <p:nvSpPr>
          <p:cNvPr id="15" name="Text 13"/>
          <p:cNvSpPr/>
          <p:nvPr/>
        </p:nvSpPr>
        <p:spPr>
          <a:xfrm>
            <a:off x="7022592" y="3438144"/>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Placement in drainage or utility easements</a:t>
            </a:r>
            <a:endParaRPr lang="en-US" sz="2050" dirty="0"/>
          </a:p>
        </p:txBody>
      </p:sp>
      <p:sp>
        <p:nvSpPr>
          <p:cNvPr id="16" name="Shape 14"/>
          <p:cNvSpPr/>
          <p:nvPr/>
        </p:nvSpPr>
        <p:spPr>
          <a:xfrm>
            <a:off x="6821424" y="4142232"/>
            <a:ext cx="82296" cy="82296"/>
          </a:xfrm>
          <a:prstGeom prst="ellipse">
            <a:avLst/>
          </a:prstGeom>
          <a:solidFill>
            <a:srgbClr val="C99A3F"/>
          </a:solidFill>
          <a:ln w="12700">
            <a:solidFill>
              <a:srgbClr val="C99A3F"/>
            </a:solidFill>
            <a:prstDash val="solid"/>
          </a:ln>
        </p:spPr>
      </p:sp>
      <p:sp>
        <p:nvSpPr>
          <p:cNvPr id="17" name="Text 15"/>
          <p:cNvSpPr/>
          <p:nvPr/>
        </p:nvSpPr>
        <p:spPr>
          <a:xfrm>
            <a:off x="7022592" y="4041648"/>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Access for service, maintenance, and utilities</a:t>
            </a:r>
            <a:endParaRPr lang="en-US" sz="2050" dirty="0"/>
          </a:p>
        </p:txBody>
      </p:sp>
      <p:sp>
        <p:nvSpPr>
          <p:cNvPr id="18" name="Text 16"/>
          <p:cNvSpPr/>
          <p:nvPr/>
        </p:nvSpPr>
        <p:spPr>
          <a:xfrm>
            <a:off x="713232" y="5715000"/>
            <a:ext cx="10469880" cy="310896"/>
          </a:xfrm>
          <a:prstGeom prst="rect">
            <a:avLst/>
          </a:prstGeom>
          <a:noFill/>
          <a:ln/>
        </p:spPr>
        <p:txBody>
          <a:bodyPr wrap="square" rtlCol="0" anchor="ctr">
            <a:normAutofit/>
          </a:bodyPr>
          <a:lstStyle/>
          <a:p>
            <a:pPr indent="0" marL="0">
              <a:buNone/>
            </a:pPr>
            <a:r>
              <a:rPr lang="en-US" sz="1250" i="1" dirty="0">
                <a:solidFill>
                  <a:srgbClr val="5E6B78"/>
                </a:solidFill>
                <a:latin typeface="Aptos" pitchFamily="34" charset="0"/>
                <a:ea typeface="Aptos" pitchFamily="34" charset="-122"/>
                <a:cs typeface="Aptos" pitchFamily="34" charset="-120"/>
              </a:rPr>
              <a:t>Source: ARC Guidelines C.24; CC&amp;R Section 4.06 Utility Easements</a:t>
            </a:r>
            <a:endParaRPr lang="en-US" sz="1250" dirty="0"/>
          </a:p>
        </p:txBody>
      </p:sp>
      <p:sp>
        <p:nvSpPr>
          <p:cNvPr id="19" name="Shape 17"/>
          <p:cNvSpPr/>
          <p:nvPr/>
        </p:nvSpPr>
        <p:spPr>
          <a:xfrm>
            <a:off x="594360" y="6345936"/>
            <a:ext cx="10972800" cy="0"/>
          </a:xfrm>
          <a:prstGeom prst="line">
            <a:avLst/>
          </a:prstGeom>
          <a:noFill/>
          <a:ln w="12700">
            <a:solidFill>
              <a:srgbClr val="C9D8D2"/>
            </a:solidFill>
            <a:prstDash val="solid"/>
          </a:ln>
        </p:spPr>
      </p:sp>
      <p:sp>
        <p:nvSpPr>
          <p:cNvPr id="20" name="Text 18"/>
          <p:cNvSpPr/>
          <p:nvPr/>
        </p:nvSpPr>
        <p:spPr>
          <a:xfrm>
            <a:off x="594360" y="6446520"/>
            <a:ext cx="9966960" cy="201168"/>
          </a:xfrm>
          <a:prstGeom prst="rect">
            <a:avLst/>
          </a:prstGeom>
          <a:noFill/>
          <a:ln/>
        </p:spPr>
        <p:txBody>
          <a:bodyPr wrap="square" rtlCol="0" anchor="ctr">
            <a:normAutofit/>
          </a:bodyPr>
          <a:lstStyle/>
          <a:p>
            <a:pPr indent="0" marL="0">
              <a:buNone/>
            </a:pPr>
            <a:r>
              <a:rPr lang="en-US" sz="950" dirty="0">
                <a:solidFill>
                  <a:srgbClr val="5E6B78"/>
                </a:solidFill>
                <a:latin typeface="Aptos" pitchFamily="34" charset="0"/>
                <a:ea typeface="Aptos" pitchFamily="34" charset="-122"/>
                <a:cs typeface="Aptos" pitchFamily="34" charset="-120"/>
              </a:rPr>
              <a:t>Questions removed from slide content and retained as optional facilitator notes.</a:t>
            </a:r>
            <a:endParaRPr lang="en-US" sz="950" dirty="0"/>
          </a:p>
        </p:txBody>
      </p:sp>
      <p:sp>
        <p:nvSpPr>
          <p:cNvPr id="21" name="Text 19"/>
          <p:cNvSpPr/>
          <p:nvPr/>
        </p:nvSpPr>
        <p:spPr>
          <a:xfrm>
            <a:off x="11064240" y="6419088"/>
            <a:ext cx="502920" cy="228600"/>
          </a:xfrm>
          <a:prstGeom prst="rect">
            <a:avLst/>
          </a:prstGeom>
          <a:noFill/>
          <a:ln/>
        </p:spPr>
        <p:txBody>
          <a:bodyPr wrap="square" rtlCol="0" anchor="ctr"/>
          <a:lstStyle/>
          <a:p>
            <a:pPr algn="r" indent="0" marL="0">
              <a:buNone/>
            </a:pPr>
            <a:r>
              <a:rPr lang="en-US" sz="1000" dirty="0">
                <a:solidFill>
                  <a:srgbClr val="5E6B78"/>
                </a:solidFill>
                <a:latin typeface="Aptos" pitchFamily="34" charset="0"/>
                <a:ea typeface="Aptos" pitchFamily="34" charset="-122"/>
                <a:cs typeface="Aptos"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6E62"/>
          </a:solidFill>
          <a:ln w="12700">
            <a:solidFill>
              <a:srgbClr val="2B6E62"/>
            </a:solidFill>
            <a:prstDash val="solid"/>
          </a:ln>
        </p:spPr>
      </p:sp>
      <p:sp>
        <p:nvSpPr>
          <p:cNvPr id="3" name="Text 1"/>
          <p:cNvSpPr/>
          <p:nvPr/>
        </p:nvSpPr>
        <p:spPr>
          <a:xfrm>
            <a:off x="658368" y="411480"/>
            <a:ext cx="3657600" cy="228600"/>
          </a:xfrm>
          <a:prstGeom prst="rect">
            <a:avLst/>
          </a:prstGeom>
          <a:noFill/>
          <a:ln/>
        </p:spPr>
        <p:txBody>
          <a:bodyPr wrap="square" rtlCol="0" anchor="ctr"/>
          <a:lstStyle/>
          <a:p>
            <a:pPr indent="0" marL="0">
              <a:buNone/>
            </a:pPr>
            <a:r>
              <a:rPr lang="en-US" sz="1050" b="1" dirty="0">
                <a:solidFill>
                  <a:srgbClr val="2B6E62"/>
                </a:solidFill>
                <a:latin typeface="Aptos" pitchFamily="34" charset="0"/>
                <a:ea typeface="Aptos" pitchFamily="34" charset="-122"/>
                <a:cs typeface="Aptos" pitchFamily="34" charset="-120"/>
              </a:rPr>
              <a:t>TRASH ENCLOSURES</a:t>
            </a:r>
            <a:endParaRPr lang="en-US" sz="1050" dirty="0"/>
          </a:p>
        </p:txBody>
      </p:sp>
      <p:sp>
        <p:nvSpPr>
          <p:cNvPr id="4" name="Text 2"/>
          <p:cNvSpPr/>
          <p:nvPr/>
        </p:nvSpPr>
        <p:spPr>
          <a:xfrm>
            <a:off x="640080" y="713232"/>
            <a:ext cx="9052560" cy="566928"/>
          </a:xfrm>
          <a:prstGeom prst="rect">
            <a:avLst/>
          </a:prstGeom>
          <a:noFill/>
          <a:ln/>
        </p:spPr>
        <p:txBody>
          <a:bodyPr wrap="square" lIns="0" tIns="0" rIns="0" bIns="0" rtlCol="0" anchor="ctr"/>
          <a:lstStyle/>
          <a:p>
            <a:pPr indent="0" marL="0">
              <a:buNone/>
            </a:pPr>
            <a:r>
              <a:rPr lang="en-US" sz="3000" b="1" dirty="0">
                <a:solidFill>
                  <a:srgbClr val="17212B"/>
                </a:solidFill>
                <a:latin typeface="Aptos Display" pitchFamily="34" charset="0"/>
                <a:ea typeface="Aptos Display" pitchFamily="34" charset="-122"/>
                <a:cs typeface="Aptos Display" pitchFamily="34" charset="-120"/>
              </a:rPr>
              <a:t>Additional discussion points</a:t>
            </a:r>
            <a:endParaRPr lang="en-US" sz="3000" dirty="0"/>
          </a:p>
        </p:txBody>
      </p:sp>
      <p:sp>
        <p:nvSpPr>
          <p:cNvPr id="5" name="Text 3"/>
          <p:cNvSpPr/>
          <p:nvPr/>
        </p:nvSpPr>
        <p:spPr>
          <a:xfrm>
            <a:off x="658368" y="1298448"/>
            <a:ext cx="9875520" cy="329184"/>
          </a:xfrm>
          <a:prstGeom prst="rect">
            <a:avLst/>
          </a:prstGeom>
          <a:noFill/>
          <a:ln/>
        </p:spPr>
        <p:txBody>
          <a:bodyPr wrap="square" lIns="0" tIns="0" rIns="0" bIns="0" rtlCol="0" anchor="ctr"/>
          <a:lstStyle/>
          <a:p>
            <a:pPr indent="0" marL="0">
              <a:buNone/>
            </a:pPr>
            <a:r>
              <a:rPr lang="en-US" sz="1350" dirty="0">
                <a:solidFill>
                  <a:srgbClr val="5E6B78"/>
                </a:solidFill>
                <a:latin typeface="Aptos" pitchFamily="34" charset="0"/>
                <a:ea typeface="Aptos" pitchFamily="34" charset="-122"/>
                <a:cs typeface="Aptos" pitchFamily="34" charset="-120"/>
              </a:rPr>
              <a:t>These points carry forward the fuller trash enclosure conversation from the earlier draft.</a:t>
            </a:r>
            <a:endParaRPr lang="en-US" sz="1350" dirty="0"/>
          </a:p>
        </p:txBody>
      </p:sp>
      <p:sp>
        <p:nvSpPr>
          <p:cNvPr id="6" name="Text 4"/>
          <p:cNvSpPr/>
          <p:nvPr/>
        </p:nvSpPr>
        <p:spPr>
          <a:xfrm>
            <a:off x="713232" y="1737360"/>
            <a:ext cx="384048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Screening standards</a:t>
            </a:r>
            <a:endParaRPr lang="en-US" sz="1500" dirty="0"/>
          </a:p>
        </p:txBody>
      </p:sp>
      <p:sp>
        <p:nvSpPr>
          <p:cNvPr id="7" name="Shape 5"/>
          <p:cNvSpPr/>
          <p:nvPr/>
        </p:nvSpPr>
        <p:spPr>
          <a:xfrm>
            <a:off x="768096" y="2276856"/>
            <a:ext cx="82296" cy="82296"/>
          </a:xfrm>
          <a:prstGeom prst="ellipse">
            <a:avLst/>
          </a:prstGeom>
          <a:solidFill>
            <a:srgbClr val="C99A3F"/>
          </a:solidFill>
          <a:ln w="12700">
            <a:solidFill>
              <a:srgbClr val="C99A3F"/>
            </a:solidFill>
            <a:prstDash val="solid"/>
          </a:ln>
        </p:spPr>
      </p:sp>
      <p:sp>
        <p:nvSpPr>
          <p:cNvPr id="8" name="Text 6"/>
          <p:cNvSpPr/>
          <p:nvPr/>
        </p:nvSpPr>
        <p:spPr>
          <a:xfrm>
            <a:off x="969264" y="2176272"/>
            <a:ext cx="5074920" cy="512064"/>
          </a:xfrm>
          <a:prstGeom prst="rect">
            <a:avLst/>
          </a:prstGeom>
          <a:noFill/>
          <a:ln/>
        </p:spPr>
        <p:txBody>
          <a:bodyPr wrap="square" rtlCol="0" anchor="ctr">
            <a:normAutofit/>
          </a:bodyPr>
          <a:lstStyle/>
          <a:p>
            <a:pPr indent="0" marL="0">
              <a:buNone/>
            </a:pPr>
            <a:r>
              <a:rPr lang="en-US" sz="1650" dirty="0">
                <a:solidFill>
                  <a:srgbClr val="17212B"/>
                </a:solidFill>
                <a:latin typeface="Aptos" pitchFamily="34" charset="0"/>
                <a:ea typeface="Aptos" pitchFamily="34" charset="-122"/>
                <a:cs typeface="Aptos" pitchFamily="34" charset="-120"/>
              </a:rPr>
              <a:t>Should future enclosures fully screen cans from street view from multiple angles?</a:t>
            </a:r>
            <a:endParaRPr lang="en-US" sz="1650" dirty="0"/>
          </a:p>
        </p:txBody>
      </p:sp>
      <p:sp>
        <p:nvSpPr>
          <p:cNvPr id="9" name="Shape 7"/>
          <p:cNvSpPr/>
          <p:nvPr/>
        </p:nvSpPr>
        <p:spPr>
          <a:xfrm>
            <a:off x="768096" y="2807208"/>
            <a:ext cx="82296" cy="82296"/>
          </a:xfrm>
          <a:prstGeom prst="ellipse">
            <a:avLst/>
          </a:prstGeom>
          <a:solidFill>
            <a:srgbClr val="C99A3F"/>
          </a:solidFill>
          <a:ln w="12700">
            <a:solidFill>
              <a:srgbClr val="C99A3F"/>
            </a:solidFill>
            <a:prstDash val="solid"/>
          </a:ln>
        </p:spPr>
      </p:sp>
      <p:sp>
        <p:nvSpPr>
          <p:cNvPr id="10" name="Text 8"/>
          <p:cNvSpPr/>
          <p:nvPr/>
        </p:nvSpPr>
        <p:spPr>
          <a:xfrm>
            <a:off x="969264" y="2706624"/>
            <a:ext cx="5074920" cy="512064"/>
          </a:xfrm>
          <a:prstGeom prst="rect">
            <a:avLst/>
          </a:prstGeom>
          <a:noFill/>
          <a:ln/>
        </p:spPr>
        <p:txBody>
          <a:bodyPr wrap="square" rtlCol="0" anchor="ctr">
            <a:normAutofit/>
          </a:bodyPr>
          <a:lstStyle/>
          <a:p>
            <a:pPr indent="0" marL="0">
              <a:buNone/>
            </a:pPr>
            <a:r>
              <a:rPr lang="en-US" sz="1650" dirty="0">
                <a:solidFill>
                  <a:srgbClr val="17212B"/>
                </a:solidFill>
                <a:latin typeface="Aptos" pitchFamily="34" charset="0"/>
                <a:ea typeface="Aptos" pitchFamily="34" charset="-122"/>
                <a:cs typeface="Aptos" pitchFamily="34" charset="-120"/>
              </a:rPr>
              <a:t>Should corner lots have clearer front and side sightline expectations?</a:t>
            </a:r>
            <a:endParaRPr lang="en-US" sz="1650" dirty="0"/>
          </a:p>
        </p:txBody>
      </p:sp>
      <p:sp>
        <p:nvSpPr>
          <p:cNvPr id="11" name="Shape 9"/>
          <p:cNvSpPr/>
          <p:nvPr/>
        </p:nvSpPr>
        <p:spPr>
          <a:xfrm>
            <a:off x="768096" y="3337560"/>
            <a:ext cx="82296" cy="82296"/>
          </a:xfrm>
          <a:prstGeom prst="ellipse">
            <a:avLst/>
          </a:prstGeom>
          <a:solidFill>
            <a:srgbClr val="C99A3F"/>
          </a:solidFill>
          <a:ln w="12700">
            <a:solidFill>
              <a:srgbClr val="C99A3F"/>
            </a:solidFill>
            <a:prstDash val="solid"/>
          </a:ln>
        </p:spPr>
      </p:sp>
      <p:sp>
        <p:nvSpPr>
          <p:cNvPr id="12" name="Text 10"/>
          <p:cNvSpPr/>
          <p:nvPr/>
        </p:nvSpPr>
        <p:spPr>
          <a:xfrm>
            <a:off x="969264" y="3236976"/>
            <a:ext cx="5074920" cy="512064"/>
          </a:xfrm>
          <a:prstGeom prst="rect">
            <a:avLst/>
          </a:prstGeom>
          <a:noFill/>
          <a:ln/>
        </p:spPr>
        <p:txBody>
          <a:bodyPr wrap="square" rtlCol="0" anchor="ctr">
            <a:normAutofit/>
          </a:bodyPr>
          <a:lstStyle/>
          <a:p>
            <a:pPr indent="0" marL="0">
              <a:buNone/>
            </a:pPr>
            <a:r>
              <a:rPr lang="en-US" sz="1650" dirty="0">
                <a:solidFill>
                  <a:srgbClr val="17212B"/>
                </a:solidFill>
                <a:latin typeface="Aptos" pitchFamily="34" charset="0"/>
                <a:ea typeface="Aptos" pitchFamily="34" charset="-122"/>
                <a:cs typeface="Aptos" pitchFamily="34" charset="-120"/>
              </a:rPr>
              <a:t>Should vinyl/PVC-style enclosures become the clearer standard moving forward?</a:t>
            </a:r>
            <a:endParaRPr lang="en-US" sz="1650" dirty="0"/>
          </a:p>
        </p:txBody>
      </p:sp>
      <p:sp>
        <p:nvSpPr>
          <p:cNvPr id="13" name="Shape 11"/>
          <p:cNvSpPr/>
          <p:nvPr/>
        </p:nvSpPr>
        <p:spPr>
          <a:xfrm>
            <a:off x="768096" y="3867912"/>
            <a:ext cx="82296" cy="82296"/>
          </a:xfrm>
          <a:prstGeom prst="ellipse">
            <a:avLst/>
          </a:prstGeom>
          <a:solidFill>
            <a:srgbClr val="C99A3F"/>
          </a:solidFill>
          <a:ln w="12700">
            <a:solidFill>
              <a:srgbClr val="C99A3F"/>
            </a:solidFill>
            <a:prstDash val="solid"/>
          </a:ln>
        </p:spPr>
      </p:sp>
      <p:sp>
        <p:nvSpPr>
          <p:cNvPr id="14" name="Text 12"/>
          <p:cNvSpPr/>
          <p:nvPr/>
        </p:nvSpPr>
        <p:spPr>
          <a:xfrm>
            <a:off x="969264" y="3767328"/>
            <a:ext cx="5074920" cy="512064"/>
          </a:xfrm>
          <a:prstGeom prst="rect">
            <a:avLst/>
          </a:prstGeom>
          <a:noFill/>
          <a:ln/>
        </p:spPr>
        <p:txBody>
          <a:bodyPr wrap="square" rtlCol="0" anchor="ctr">
            <a:normAutofit/>
          </a:bodyPr>
          <a:lstStyle/>
          <a:p>
            <a:pPr indent="0" marL="0">
              <a:buNone/>
            </a:pPr>
            <a:r>
              <a:rPr lang="en-US" sz="1650" dirty="0">
                <a:solidFill>
                  <a:srgbClr val="17212B"/>
                </a:solidFill>
                <a:latin typeface="Aptos" pitchFamily="34" charset="0"/>
                <a:ea typeface="Aptos" pitchFamily="34" charset="-122"/>
                <a:cs typeface="Aptos" pitchFamily="34" charset="-120"/>
              </a:rPr>
              <a:t>Should alternative wood or lattice styles remain available if they screen effectively?</a:t>
            </a:r>
            <a:endParaRPr lang="en-US" sz="1650" dirty="0"/>
          </a:p>
        </p:txBody>
      </p:sp>
      <p:sp>
        <p:nvSpPr>
          <p:cNvPr id="15" name="Shape 13"/>
          <p:cNvSpPr/>
          <p:nvPr/>
        </p:nvSpPr>
        <p:spPr>
          <a:xfrm>
            <a:off x="768096" y="4398264"/>
            <a:ext cx="82296" cy="82296"/>
          </a:xfrm>
          <a:prstGeom prst="ellipse">
            <a:avLst/>
          </a:prstGeom>
          <a:solidFill>
            <a:srgbClr val="C99A3F"/>
          </a:solidFill>
          <a:ln w="12700">
            <a:solidFill>
              <a:srgbClr val="C99A3F"/>
            </a:solidFill>
            <a:prstDash val="solid"/>
          </a:ln>
        </p:spPr>
      </p:sp>
      <p:sp>
        <p:nvSpPr>
          <p:cNvPr id="16" name="Text 14"/>
          <p:cNvSpPr/>
          <p:nvPr/>
        </p:nvSpPr>
        <p:spPr>
          <a:xfrm>
            <a:off x="969264" y="4297680"/>
            <a:ext cx="5074920" cy="512064"/>
          </a:xfrm>
          <a:prstGeom prst="rect">
            <a:avLst/>
          </a:prstGeom>
          <a:noFill/>
          <a:ln/>
        </p:spPr>
        <p:txBody>
          <a:bodyPr wrap="square" rtlCol="0" anchor="ctr">
            <a:normAutofit/>
          </a:bodyPr>
          <a:lstStyle/>
          <a:p>
            <a:pPr indent="0" marL="0">
              <a:buNone/>
            </a:pPr>
            <a:r>
              <a:rPr lang="en-US" sz="1650" dirty="0">
                <a:solidFill>
                  <a:srgbClr val="17212B"/>
                </a:solidFill>
                <a:latin typeface="Aptos" pitchFamily="34" charset="0"/>
                <a:ea typeface="Aptos" pitchFamily="34" charset="-122"/>
                <a:cs typeface="Aptos" pitchFamily="34" charset="-120"/>
              </a:rPr>
              <a:t>How should prior single-panel approvals be handled going forward?</a:t>
            </a:r>
            <a:endParaRPr lang="en-US" sz="1650" dirty="0"/>
          </a:p>
        </p:txBody>
      </p:sp>
      <p:sp>
        <p:nvSpPr>
          <p:cNvPr id="17" name="Shape 15"/>
          <p:cNvSpPr/>
          <p:nvPr/>
        </p:nvSpPr>
        <p:spPr>
          <a:xfrm>
            <a:off x="6217920" y="1783080"/>
            <a:ext cx="0" cy="3840480"/>
          </a:xfrm>
          <a:prstGeom prst="line">
            <a:avLst/>
          </a:prstGeom>
          <a:noFill/>
          <a:ln w="13970">
            <a:solidFill>
              <a:srgbClr val="C9D8D2"/>
            </a:solidFill>
            <a:prstDash val="solid"/>
          </a:ln>
        </p:spPr>
      </p:sp>
      <p:sp>
        <p:nvSpPr>
          <p:cNvPr id="18" name="Text 16"/>
          <p:cNvSpPr/>
          <p:nvPr/>
        </p:nvSpPr>
        <p:spPr>
          <a:xfrm>
            <a:off x="6629400" y="1737360"/>
            <a:ext cx="384048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Placement and flexibility</a:t>
            </a:r>
            <a:endParaRPr lang="en-US" sz="1500" dirty="0"/>
          </a:p>
        </p:txBody>
      </p:sp>
      <p:sp>
        <p:nvSpPr>
          <p:cNvPr id="19" name="Shape 17"/>
          <p:cNvSpPr/>
          <p:nvPr/>
        </p:nvSpPr>
        <p:spPr>
          <a:xfrm>
            <a:off x="6684264" y="2276856"/>
            <a:ext cx="82296" cy="82296"/>
          </a:xfrm>
          <a:prstGeom prst="ellipse">
            <a:avLst/>
          </a:prstGeom>
          <a:solidFill>
            <a:srgbClr val="C99A3F"/>
          </a:solidFill>
          <a:ln w="12700">
            <a:solidFill>
              <a:srgbClr val="C99A3F"/>
            </a:solidFill>
            <a:prstDash val="solid"/>
          </a:ln>
        </p:spPr>
      </p:sp>
      <p:sp>
        <p:nvSpPr>
          <p:cNvPr id="20" name="Text 18"/>
          <p:cNvSpPr/>
          <p:nvPr/>
        </p:nvSpPr>
        <p:spPr>
          <a:xfrm>
            <a:off x="6885432" y="2176272"/>
            <a:ext cx="4251960" cy="566928"/>
          </a:xfrm>
          <a:prstGeom prst="rect">
            <a:avLst/>
          </a:prstGeom>
          <a:noFill/>
          <a:ln/>
        </p:spPr>
        <p:txBody>
          <a:bodyPr wrap="square" rtlCol="0" anchor="ctr">
            <a:normAutofit/>
          </a:bodyPr>
          <a:lstStyle/>
          <a:p>
            <a:pPr indent="0" marL="0">
              <a:buNone/>
            </a:pPr>
            <a:r>
              <a:rPr lang="en-US" sz="1650" dirty="0">
                <a:solidFill>
                  <a:srgbClr val="17212B"/>
                </a:solidFill>
                <a:latin typeface="Aptos" pitchFamily="34" charset="0"/>
                <a:ea typeface="Aptos" pitchFamily="34" charset="-122"/>
                <a:cs typeface="Aptos" pitchFamily="34" charset="-120"/>
              </a:rPr>
              <a:t>Confirm drainage, utility, and access easements before approval.</a:t>
            </a:r>
            <a:endParaRPr lang="en-US" sz="1650" dirty="0"/>
          </a:p>
        </p:txBody>
      </p:sp>
      <p:sp>
        <p:nvSpPr>
          <p:cNvPr id="21" name="Shape 19"/>
          <p:cNvSpPr/>
          <p:nvPr/>
        </p:nvSpPr>
        <p:spPr>
          <a:xfrm>
            <a:off x="6684264" y="2862072"/>
            <a:ext cx="82296" cy="82296"/>
          </a:xfrm>
          <a:prstGeom prst="ellipse">
            <a:avLst/>
          </a:prstGeom>
          <a:solidFill>
            <a:srgbClr val="C99A3F"/>
          </a:solidFill>
          <a:ln w="12700">
            <a:solidFill>
              <a:srgbClr val="C99A3F"/>
            </a:solidFill>
            <a:prstDash val="solid"/>
          </a:ln>
        </p:spPr>
      </p:sp>
      <p:sp>
        <p:nvSpPr>
          <p:cNvPr id="22" name="Text 20"/>
          <p:cNvSpPr/>
          <p:nvPr/>
        </p:nvSpPr>
        <p:spPr>
          <a:xfrm>
            <a:off x="6885432" y="2761488"/>
            <a:ext cx="4251960" cy="566928"/>
          </a:xfrm>
          <a:prstGeom prst="rect">
            <a:avLst/>
          </a:prstGeom>
          <a:noFill/>
          <a:ln/>
        </p:spPr>
        <p:txBody>
          <a:bodyPr wrap="square" rtlCol="0" anchor="ctr">
            <a:normAutofit/>
          </a:bodyPr>
          <a:lstStyle/>
          <a:p>
            <a:pPr indent="0" marL="0">
              <a:buNone/>
            </a:pPr>
            <a:r>
              <a:rPr lang="en-US" sz="1650" dirty="0">
                <a:solidFill>
                  <a:srgbClr val="17212B"/>
                </a:solidFill>
                <a:latin typeface="Aptos" pitchFamily="34" charset="0"/>
                <a:ea typeface="Aptos" pitchFamily="34" charset="-122"/>
                <a:cs typeface="Aptos" pitchFamily="34" charset="-120"/>
              </a:rPr>
              <a:t>Avoid blocking utility service or future maintenance access.</a:t>
            </a:r>
            <a:endParaRPr lang="en-US" sz="1650" dirty="0"/>
          </a:p>
        </p:txBody>
      </p:sp>
      <p:sp>
        <p:nvSpPr>
          <p:cNvPr id="23" name="Shape 21"/>
          <p:cNvSpPr/>
          <p:nvPr/>
        </p:nvSpPr>
        <p:spPr>
          <a:xfrm>
            <a:off x="6684264" y="3447288"/>
            <a:ext cx="82296" cy="82296"/>
          </a:xfrm>
          <a:prstGeom prst="ellipse">
            <a:avLst/>
          </a:prstGeom>
          <a:solidFill>
            <a:srgbClr val="C99A3F"/>
          </a:solidFill>
          <a:ln w="12700">
            <a:solidFill>
              <a:srgbClr val="C99A3F"/>
            </a:solidFill>
            <a:prstDash val="solid"/>
          </a:ln>
        </p:spPr>
      </p:sp>
      <p:sp>
        <p:nvSpPr>
          <p:cNvPr id="24" name="Text 22"/>
          <p:cNvSpPr/>
          <p:nvPr/>
        </p:nvSpPr>
        <p:spPr>
          <a:xfrm>
            <a:off x="6885432" y="3346704"/>
            <a:ext cx="4251960" cy="566928"/>
          </a:xfrm>
          <a:prstGeom prst="rect">
            <a:avLst/>
          </a:prstGeom>
          <a:noFill/>
          <a:ln/>
        </p:spPr>
        <p:txBody>
          <a:bodyPr wrap="square" rtlCol="0" anchor="ctr">
            <a:normAutofit/>
          </a:bodyPr>
          <a:lstStyle/>
          <a:p>
            <a:pPr indent="0" marL="0">
              <a:buNone/>
            </a:pPr>
            <a:r>
              <a:rPr lang="en-US" sz="1650" dirty="0">
                <a:solidFill>
                  <a:srgbClr val="17212B"/>
                </a:solidFill>
                <a:latin typeface="Aptos" pitchFamily="34" charset="0"/>
                <a:ea typeface="Aptos" pitchFamily="34" charset="-122"/>
                <a:cs typeface="Aptos" pitchFamily="34" charset="-120"/>
              </a:rPr>
              <a:t>Recognize that cans may still be stored in garages or behind homes.</a:t>
            </a:r>
            <a:endParaRPr lang="en-US" sz="1650" dirty="0"/>
          </a:p>
        </p:txBody>
      </p:sp>
      <p:sp>
        <p:nvSpPr>
          <p:cNvPr id="25" name="Shape 23"/>
          <p:cNvSpPr/>
          <p:nvPr/>
        </p:nvSpPr>
        <p:spPr>
          <a:xfrm>
            <a:off x="6684264" y="4032504"/>
            <a:ext cx="82296" cy="82296"/>
          </a:xfrm>
          <a:prstGeom prst="ellipse">
            <a:avLst/>
          </a:prstGeom>
          <a:solidFill>
            <a:srgbClr val="C99A3F"/>
          </a:solidFill>
          <a:ln w="12700">
            <a:solidFill>
              <a:srgbClr val="C99A3F"/>
            </a:solidFill>
            <a:prstDash val="solid"/>
          </a:ln>
        </p:spPr>
      </p:sp>
      <p:sp>
        <p:nvSpPr>
          <p:cNvPr id="26" name="Text 24"/>
          <p:cNvSpPr/>
          <p:nvPr/>
        </p:nvSpPr>
        <p:spPr>
          <a:xfrm>
            <a:off x="6885432" y="3931920"/>
            <a:ext cx="4251960" cy="566928"/>
          </a:xfrm>
          <a:prstGeom prst="rect">
            <a:avLst/>
          </a:prstGeom>
          <a:noFill/>
          <a:ln/>
        </p:spPr>
        <p:txBody>
          <a:bodyPr wrap="square" rtlCol="0" anchor="ctr">
            <a:normAutofit/>
          </a:bodyPr>
          <a:lstStyle/>
          <a:p>
            <a:pPr indent="0" marL="0">
              <a:buNone/>
            </a:pPr>
            <a:r>
              <a:rPr lang="en-US" sz="1650" dirty="0">
                <a:solidFill>
                  <a:srgbClr val="17212B"/>
                </a:solidFill>
                <a:latin typeface="Aptos" pitchFamily="34" charset="0"/>
                <a:ea typeface="Aptos" pitchFamily="34" charset="-122"/>
                <a:cs typeface="Aptos" pitchFamily="34" charset="-120"/>
              </a:rPr>
              <a:t>Balance consistency, appearance, cost, and practical homeowner options.</a:t>
            </a:r>
            <a:endParaRPr lang="en-US" sz="1650" dirty="0"/>
          </a:p>
        </p:txBody>
      </p:sp>
      <p:sp>
        <p:nvSpPr>
          <p:cNvPr id="27" name="Text 25"/>
          <p:cNvSpPr/>
          <p:nvPr/>
        </p:nvSpPr>
        <p:spPr>
          <a:xfrm>
            <a:off x="768096" y="5650992"/>
            <a:ext cx="9875520" cy="310896"/>
          </a:xfrm>
          <a:prstGeom prst="rect">
            <a:avLst/>
          </a:prstGeom>
          <a:noFill/>
          <a:ln/>
        </p:spPr>
        <p:txBody>
          <a:bodyPr wrap="square" rtlCol="0" anchor="ctr">
            <a:normAutofit/>
          </a:bodyPr>
          <a:lstStyle/>
          <a:p>
            <a:pPr indent="0" marL="0">
              <a:buNone/>
            </a:pPr>
            <a:r>
              <a:rPr lang="en-US" sz="1550" b="1" dirty="0">
                <a:solidFill>
                  <a:srgbClr val="A8573F"/>
                </a:solidFill>
                <a:latin typeface="Aptos" pitchFamily="34" charset="0"/>
                <a:ea typeface="Aptos" pitchFamily="34" charset="-122"/>
                <a:cs typeface="Aptos" pitchFamily="34" charset="-120"/>
              </a:rPr>
              <a:t>Goal: gather homeowner feedback before deciding whether clearer standards should be drafted.</a:t>
            </a:r>
            <a:endParaRPr lang="en-US" sz="1550" dirty="0"/>
          </a:p>
        </p:txBody>
      </p:sp>
      <p:sp>
        <p:nvSpPr>
          <p:cNvPr id="28" name="Shape 26"/>
          <p:cNvSpPr/>
          <p:nvPr/>
        </p:nvSpPr>
        <p:spPr>
          <a:xfrm>
            <a:off x="594360" y="6345936"/>
            <a:ext cx="10972800" cy="0"/>
          </a:xfrm>
          <a:prstGeom prst="line">
            <a:avLst/>
          </a:prstGeom>
          <a:noFill/>
          <a:ln w="12700">
            <a:solidFill>
              <a:srgbClr val="C9D8D2"/>
            </a:solidFill>
            <a:prstDash val="solid"/>
          </a:ln>
        </p:spPr>
      </p:sp>
      <p:sp>
        <p:nvSpPr>
          <p:cNvPr id="29" name="Text 27"/>
          <p:cNvSpPr/>
          <p:nvPr/>
        </p:nvSpPr>
        <p:spPr>
          <a:xfrm>
            <a:off x="594360" y="6446520"/>
            <a:ext cx="9966960" cy="201168"/>
          </a:xfrm>
          <a:prstGeom prst="rect">
            <a:avLst/>
          </a:prstGeom>
          <a:noFill/>
          <a:ln/>
        </p:spPr>
        <p:txBody>
          <a:bodyPr wrap="square" rtlCol="0" anchor="ctr">
            <a:normAutofit/>
          </a:bodyPr>
          <a:lstStyle/>
          <a:p>
            <a:pPr indent="0" marL="0">
              <a:buNone/>
            </a:pPr>
            <a:r>
              <a:rPr lang="en-US" sz="950" dirty="0">
                <a:solidFill>
                  <a:srgbClr val="5E6B78"/>
                </a:solidFill>
                <a:latin typeface="Aptos" pitchFamily="34" charset="0"/>
                <a:ea typeface="Aptos" pitchFamily="34" charset="-122"/>
                <a:cs typeface="Aptos" pitchFamily="34" charset="-120"/>
              </a:rPr>
              <a:t>Trash enclosure prompts carried forward from the previous presentation draft.</a:t>
            </a:r>
            <a:endParaRPr lang="en-US" sz="950" dirty="0"/>
          </a:p>
        </p:txBody>
      </p:sp>
      <p:sp>
        <p:nvSpPr>
          <p:cNvPr id="30" name="Text 28"/>
          <p:cNvSpPr/>
          <p:nvPr/>
        </p:nvSpPr>
        <p:spPr>
          <a:xfrm>
            <a:off x="11064240" y="6419088"/>
            <a:ext cx="502920" cy="228600"/>
          </a:xfrm>
          <a:prstGeom prst="rect">
            <a:avLst/>
          </a:prstGeom>
          <a:noFill/>
          <a:ln/>
        </p:spPr>
        <p:txBody>
          <a:bodyPr wrap="square" rtlCol="0" anchor="ctr"/>
          <a:lstStyle/>
          <a:p>
            <a:pPr algn="r" indent="0" marL="0">
              <a:buNone/>
            </a:pPr>
            <a:r>
              <a:rPr lang="en-US" sz="1000" dirty="0">
                <a:solidFill>
                  <a:srgbClr val="5E6B78"/>
                </a:solidFill>
                <a:latin typeface="Aptos" pitchFamily="34" charset="0"/>
                <a:ea typeface="Aptos" pitchFamily="34" charset="-122"/>
                <a:cs typeface="Aptos"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6E62"/>
          </a:solidFill>
          <a:ln w="12700">
            <a:solidFill>
              <a:srgbClr val="2B6E62"/>
            </a:solidFill>
            <a:prstDash val="solid"/>
          </a:ln>
        </p:spPr>
      </p:sp>
      <p:sp>
        <p:nvSpPr>
          <p:cNvPr id="3" name="Text 1"/>
          <p:cNvSpPr/>
          <p:nvPr/>
        </p:nvSpPr>
        <p:spPr>
          <a:xfrm>
            <a:off x="658368" y="411480"/>
            <a:ext cx="3657600" cy="228600"/>
          </a:xfrm>
          <a:prstGeom prst="rect">
            <a:avLst/>
          </a:prstGeom>
          <a:noFill/>
          <a:ln/>
        </p:spPr>
        <p:txBody>
          <a:bodyPr wrap="square" rtlCol="0" anchor="ctr"/>
          <a:lstStyle/>
          <a:p>
            <a:pPr indent="0" marL="0">
              <a:buNone/>
            </a:pPr>
            <a:r>
              <a:rPr lang="en-US" sz="1050" b="1" dirty="0">
                <a:solidFill>
                  <a:srgbClr val="2B6E62"/>
                </a:solidFill>
                <a:latin typeface="Aptos" pitchFamily="34" charset="0"/>
                <a:ea typeface="Aptos" pitchFamily="34" charset="-122"/>
                <a:cs typeface="Aptos" pitchFamily="34" charset="-120"/>
              </a:rPr>
              <a:t>TOPIC 2</a:t>
            </a:r>
            <a:endParaRPr lang="en-US" sz="1050" dirty="0"/>
          </a:p>
        </p:txBody>
      </p:sp>
      <p:sp>
        <p:nvSpPr>
          <p:cNvPr id="4" name="Text 2"/>
          <p:cNvSpPr/>
          <p:nvPr/>
        </p:nvSpPr>
        <p:spPr>
          <a:xfrm>
            <a:off x="640080" y="713232"/>
            <a:ext cx="9052560" cy="566928"/>
          </a:xfrm>
          <a:prstGeom prst="rect">
            <a:avLst/>
          </a:prstGeom>
          <a:noFill/>
          <a:ln/>
        </p:spPr>
        <p:txBody>
          <a:bodyPr wrap="square" lIns="0" tIns="0" rIns="0" bIns="0" rtlCol="0" anchor="ctr"/>
          <a:lstStyle/>
          <a:p>
            <a:pPr indent="0" marL="0">
              <a:buNone/>
            </a:pPr>
            <a:r>
              <a:rPr lang="en-US" sz="3000" b="1" dirty="0">
                <a:solidFill>
                  <a:srgbClr val="17212B"/>
                </a:solidFill>
                <a:latin typeface="Aptos Display" pitchFamily="34" charset="0"/>
                <a:ea typeface="Aptos Display" pitchFamily="34" charset="-122"/>
                <a:cs typeface="Aptos Display" pitchFamily="34" charset="-120"/>
              </a:rPr>
              <a:t>Fire Safe Community</a:t>
            </a:r>
            <a:endParaRPr lang="en-US" sz="3000" dirty="0"/>
          </a:p>
        </p:txBody>
      </p:sp>
      <p:sp>
        <p:nvSpPr>
          <p:cNvPr id="5" name="Text 3"/>
          <p:cNvSpPr/>
          <p:nvPr/>
        </p:nvSpPr>
        <p:spPr>
          <a:xfrm>
            <a:off x="658368" y="1298448"/>
            <a:ext cx="9875520" cy="329184"/>
          </a:xfrm>
          <a:prstGeom prst="rect">
            <a:avLst/>
          </a:prstGeom>
          <a:noFill/>
          <a:ln/>
        </p:spPr>
        <p:txBody>
          <a:bodyPr wrap="square" lIns="0" tIns="0" rIns="0" bIns="0" rtlCol="0" anchor="ctr"/>
          <a:lstStyle/>
          <a:p>
            <a:pPr indent="0" marL="0">
              <a:buNone/>
            </a:pPr>
            <a:r>
              <a:rPr lang="en-US" sz="1350" dirty="0">
                <a:solidFill>
                  <a:srgbClr val="5E6B78"/>
                </a:solidFill>
                <a:latin typeface="Aptos" pitchFamily="34" charset="0"/>
                <a:ea typeface="Aptos" pitchFamily="34" charset="-122"/>
                <a:cs typeface="Aptos" pitchFamily="34" charset="-120"/>
              </a:rPr>
              <a:t>8 min</a:t>
            </a:r>
            <a:endParaRPr lang="en-US" sz="1350" dirty="0"/>
          </a:p>
        </p:txBody>
      </p:sp>
      <p:sp>
        <p:nvSpPr>
          <p:cNvPr id="6" name="Text 4"/>
          <p:cNvSpPr/>
          <p:nvPr/>
        </p:nvSpPr>
        <p:spPr>
          <a:xfrm>
            <a:off x="713232" y="1719072"/>
            <a:ext cx="448056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Governing language</a:t>
            </a:r>
            <a:endParaRPr lang="en-US" sz="1500" dirty="0"/>
          </a:p>
        </p:txBody>
      </p:sp>
      <p:sp>
        <p:nvSpPr>
          <p:cNvPr id="7" name="Text 5"/>
          <p:cNvSpPr/>
          <p:nvPr/>
        </p:nvSpPr>
        <p:spPr>
          <a:xfrm>
            <a:off x="713232" y="2148840"/>
            <a:ext cx="5394960" cy="2926080"/>
          </a:xfrm>
          <a:prstGeom prst="rect">
            <a:avLst/>
          </a:prstGeom>
          <a:noFill/>
          <a:ln/>
        </p:spPr>
        <p:txBody>
          <a:bodyPr wrap="square" lIns="254" tIns="254" rIns="254" bIns="254"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"Owners, and their residents, tenants, and guests, shall at all times be in compliance with the Fire Code of the North Carolina State Building Code."</a:t>
            </a:r>
            <a:endParaRPr lang="en-US" sz="2050" dirty="0"/>
          </a:p>
        </p:txBody>
      </p:sp>
      <p:sp>
        <p:nvSpPr>
          <p:cNvPr id="8" name="Shape 6"/>
          <p:cNvSpPr/>
          <p:nvPr/>
        </p:nvSpPr>
        <p:spPr>
          <a:xfrm>
            <a:off x="6355080" y="1783080"/>
            <a:ext cx="0" cy="3749040"/>
          </a:xfrm>
          <a:prstGeom prst="line">
            <a:avLst/>
          </a:prstGeom>
          <a:noFill/>
          <a:ln w="13970">
            <a:solidFill>
              <a:srgbClr val="C9D8D2"/>
            </a:solidFill>
            <a:prstDash val="solid"/>
          </a:ln>
        </p:spPr>
      </p:sp>
      <p:sp>
        <p:nvSpPr>
          <p:cNvPr id="9" name="Text 7"/>
          <p:cNvSpPr/>
          <p:nvPr/>
        </p:nvSpPr>
        <p:spPr>
          <a:xfrm>
            <a:off x="6784848" y="1719072"/>
            <a:ext cx="411480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Concerns to discuss</a:t>
            </a:r>
            <a:endParaRPr lang="en-US" sz="1500" dirty="0"/>
          </a:p>
        </p:txBody>
      </p:sp>
      <p:sp>
        <p:nvSpPr>
          <p:cNvPr id="10" name="Shape 8"/>
          <p:cNvSpPr/>
          <p:nvPr/>
        </p:nvSpPr>
        <p:spPr>
          <a:xfrm>
            <a:off x="6821424" y="2331720"/>
            <a:ext cx="82296" cy="82296"/>
          </a:xfrm>
          <a:prstGeom prst="ellipse">
            <a:avLst/>
          </a:prstGeom>
          <a:solidFill>
            <a:srgbClr val="C99A3F"/>
          </a:solidFill>
          <a:ln w="12700">
            <a:solidFill>
              <a:srgbClr val="C99A3F"/>
            </a:solidFill>
            <a:prstDash val="solid"/>
          </a:ln>
        </p:spPr>
      </p:sp>
      <p:sp>
        <p:nvSpPr>
          <p:cNvPr id="11" name="Text 9"/>
          <p:cNvSpPr/>
          <p:nvPr/>
        </p:nvSpPr>
        <p:spPr>
          <a:xfrm>
            <a:off x="7022592" y="2231136"/>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Safe placement of grills and fire pits</a:t>
            </a:r>
            <a:endParaRPr lang="en-US" sz="2050" dirty="0"/>
          </a:p>
        </p:txBody>
      </p:sp>
      <p:sp>
        <p:nvSpPr>
          <p:cNvPr id="12" name="Shape 10"/>
          <p:cNvSpPr/>
          <p:nvPr/>
        </p:nvSpPr>
        <p:spPr>
          <a:xfrm>
            <a:off x="6821424" y="2935224"/>
            <a:ext cx="82296" cy="82296"/>
          </a:xfrm>
          <a:prstGeom prst="ellipse">
            <a:avLst/>
          </a:prstGeom>
          <a:solidFill>
            <a:srgbClr val="C99A3F"/>
          </a:solidFill>
          <a:ln w="12700">
            <a:solidFill>
              <a:srgbClr val="C99A3F"/>
            </a:solidFill>
            <a:prstDash val="solid"/>
          </a:ln>
        </p:spPr>
      </p:sp>
      <p:sp>
        <p:nvSpPr>
          <p:cNvPr id="13" name="Text 11"/>
          <p:cNvSpPr/>
          <p:nvPr/>
        </p:nvSpPr>
        <p:spPr>
          <a:xfrm>
            <a:off x="7022592" y="2834640"/>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Open flames near homes, fences, and common areas</a:t>
            </a:r>
            <a:endParaRPr lang="en-US" sz="2050" dirty="0"/>
          </a:p>
        </p:txBody>
      </p:sp>
      <p:sp>
        <p:nvSpPr>
          <p:cNvPr id="14" name="Shape 12"/>
          <p:cNvSpPr/>
          <p:nvPr/>
        </p:nvSpPr>
        <p:spPr>
          <a:xfrm>
            <a:off x="6821424" y="3538728"/>
            <a:ext cx="82296" cy="82296"/>
          </a:xfrm>
          <a:prstGeom prst="ellipse">
            <a:avLst/>
          </a:prstGeom>
          <a:solidFill>
            <a:srgbClr val="C99A3F"/>
          </a:solidFill>
          <a:ln w="12700">
            <a:solidFill>
              <a:srgbClr val="C99A3F"/>
            </a:solidFill>
            <a:prstDash val="solid"/>
          </a:ln>
        </p:spPr>
      </p:sp>
      <p:sp>
        <p:nvSpPr>
          <p:cNvPr id="15" name="Text 13"/>
          <p:cNvSpPr/>
          <p:nvPr/>
        </p:nvSpPr>
        <p:spPr>
          <a:xfrm>
            <a:off x="7022592" y="3438144"/>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Dry-season reminders</a:t>
            </a:r>
            <a:endParaRPr lang="en-US" sz="2050" dirty="0"/>
          </a:p>
        </p:txBody>
      </p:sp>
      <p:sp>
        <p:nvSpPr>
          <p:cNvPr id="16" name="Shape 14"/>
          <p:cNvSpPr/>
          <p:nvPr/>
        </p:nvSpPr>
        <p:spPr>
          <a:xfrm>
            <a:off x="6821424" y="4142232"/>
            <a:ext cx="82296" cy="82296"/>
          </a:xfrm>
          <a:prstGeom prst="ellipse">
            <a:avLst/>
          </a:prstGeom>
          <a:solidFill>
            <a:srgbClr val="C99A3F"/>
          </a:solidFill>
          <a:ln w="12700">
            <a:solidFill>
              <a:srgbClr val="C99A3F"/>
            </a:solidFill>
            <a:prstDash val="solid"/>
          </a:ln>
        </p:spPr>
      </p:sp>
      <p:sp>
        <p:nvSpPr>
          <p:cNvPr id="17" name="Text 15"/>
          <p:cNvSpPr/>
          <p:nvPr/>
        </p:nvSpPr>
        <p:spPr>
          <a:xfrm>
            <a:off x="7022592" y="4041648"/>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Insurance and neighboring-property concerns</a:t>
            </a:r>
            <a:endParaRPr lang="en-US" sz="2050" dirty="0"/>
          </a:p>
        </p:txBody>
      </p:sp>
      <p:sp>
        <p:nvSpPr>
          <p:cNvPr id="18" name="Text 16"/>
          <p:cNvSpPr/>
          <p:nvPr/>
        </p:nvSpPr>
        <p:spPr>
          <a:xfrm>
            <a:off x="713232" y="5715000"/>
            <a:ext cx="10469880" cy="310896"/>
          </a:xfrm>
          <a:prstGeom prst="rect">
            <a:avLst/>
          </a:prstGeom>
          <a:noFill/>
          <a:ln/>
        </p:spPr>
        <p:txBody>
          <a:bodyPr wrap="square" rtlCol="0" anchor="ctr">
            <a:normAutofit/>
          </a:bodyPr>
          <a:lstStyle/>
          <a:p>
            <a:pPr indent="0" marL="0">
              <a:buNone/>
            </a:pPr>
            <a:r>
              <a:rPr lang="en-US" sz="1250" i="1" dirty="0">
                <a:solidFill>
                  <a:srgbClr val="5E6B78"/>
                </a:solidFill>
                <a:latin typeface="Aptos" pitchFamily="34" charset="0"/>
                <a:ea typeface="Aptos" pitchFamily="34" charset="-122"/>
                <a:cs typeface="Aptos" pitchFamily="34" charset="-120"/>
              </a:rPr>
              <a:t>Source: CC&amp;R Section 7.20 Storage or Use of Open-Flame Devices</a:t>
            </a:r>
            <a:endParaRPr lang="en-US" sz="1250" dirty="0"/>
          </a:p>
        </p:txBody>
      </p:sp>
      <p:sp>
        <p:nvSpPr>
          <p:cNvPr id="19" name="Shape 17"/>
          <p:cNvSpPr/>
          <p:nvPr/>
        </p:nvSpPr>
        <p:spPr>
          <a:xfrm>
            <a:off x="594360" y="6345936"/>
            <a:ext cx="10972800" cy="0"/>
          </a:xfrm>
          <a:prstGeom prst="line">
            <a:avLst/>
          </a:prstGeom>
          <a:noFill/>
          <a:ln w="12700">
            <a:solidFill>
              <a:srgbClr val="C9D8D2"/>
            </a:solidFill>
            <a:prstDash val="solid"/>
          </a:ln>
        </p:spPr>
      </p:sp>
      <p:sp>
        <p:nvSpPr>
          <p:cNvPr id="20" name="Text 18"/>
          <p:cNvSpPr/>
          <p:nvPr/>
        </p:nvSpPr>
        <p:spPr>
          <a:xfrm>
            <a:off x="594360" y="6446520"/>
            <a:ext cx="9966960" cy="201168"/>
          </a:xfrm>
          <a:prstGeom prst="rect">
            <a:avLst/>
          </a:prstGeom>
          <a:noFill/>
          <a:ln/>
        </p:spPr>
        <p:txBody>
          <a:bodyPr wrap="square" rtlCol="0" anchor="ctr">
            <a:normAutofit/>
          </a:bodyPr>
          <a:lstStyle/>
          <a:p>
            <a:pPr indent="0" marL="0">
              <a:buNone/>
            </a:pPr>
            <a:r>
              <a:rPr lang="en-US" sz="950" dirty="0">
                <a:solidFill>
                  <a:srgbClr val="5E6B78"/>
                </a:solidFill>
                <a:latin typeface="Aptos" pitchFamily="34" charset="0"/>
                <a:ea typeface="Aptos" pitchFamily="34" charset="-122"/>
                <a:cs typeface="Aptos" pitchFamily="34" charset="-120"/>
              </a:rPr>
              <a:t>Questions removed from slide content and retained as optional facilitator notes.</a:t>
            </a:r>
            <a:endParaRPr lang="en-US" sz="950" dirty="0"/>
          </a:p>
        </p:txBody>
      </p:sp>
      <p:sp>
        <p:nvSpPr>
          <p:cNvPr id="21" name="Text 19"/>
          <p:cNvSpPr/>
          <p:nvPr/>
        </p:nvSpPr>
        <p:spPr>
          <a:xfrm>
            <a:off x="11064240" y="6419088"/>
            <a:ext cx="502920" cy="228600"/>
          </a:xfrm>
          <a:prstGeom prst="rect">
            <a:avLst/>
          </a:prstGeom>
          <a:noFill/>
          <a:ln/>
        </p:spPr>
        <p:txBody>
          <a:bodyPr wrap="square" rtlCol="0" anchor="ctr"/>
          <a:lstStyle/>
          <a:p>
            <a:pPr algn="r" indent="0" marL="0">
              <a:buNone/>
            </a:pPr>
            <a:r>
              <a:rPr lang="en-US" sz="1000" dirty="0">
                <a:solidFill>
                  <a:srgbClr val="5E6B78"/>
                </a:solidFill>
                <a:latin typeface="Aptos" pitchFamily="34" charset="0"/>
                <a:ea typeface="Aptos" pitchFamily="34" charset="-122"/>
                <a:cs typeface="Aptos"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6E62"/>
          </a:solidFill>
          <a:ln w="12700">
            <a:solidFill>
              <a:srgbClr val="2B6E62"/>
            </a:solidFill>
            <a:prstDash val="solid"/>
          </a:ln>
        </p:spPr>
      </p:sp>
      <p:sp>
        <p:nvSpPr>
          <p:cNvPr id="3" name="Text 1"/>
          <p:cNvSpPr/>
          <p:nvPr/>
        </p:nvSpPr>
        <p:spPr>
          <a:xfrm>
            <a:off x="658368" y="411480"/>
            <a:ext cx="3657600" cy="228600"/>
          </a:xfrm>
          <a:prstGeom prst="rect">
            <a:avLst/>
          </a:prstGeom>
          <a:noFill/>
          <a:ln/>
        </p:spPr>
        <p:txBody>
          <a:bodyPr wrap="square" rtlCol="0" anchor="ctr"/>
          <a:lstStyle/>
          <a:p>
            <a:pPr indent="0" marL="0">
              <a:buNone/>
            </a:pPr>
            <a:r>
              <a:rPr lang="en-US" sz="1050" b="1" dirty="0">
                <a:solidFill>
                  <a:srgbClr val="2B6E62"/>
                </a:solidFill>
                <a:latin typeface="Aptos" pitchFamily="34" charset="0"/>
                <a:ea typeface="Aptos" pitchFamily="34" charset="-122"/>
                <a:cs typeface="Aptos" pitchFamily="34" charset="-120"/>
              </a:rPr>
              <a:t>TOPIC 3</a:t>
            </a:r>
            <a:endParaRPr lang="en-US" sz="1050" dirty="0"/>
          </a:p>
        </p:txBody>
      </p:sp>
      <p:sp>
        <p:nvSpPr>
          <p:cNvPr id="4" name="Text 2"/>
          <p:cNvSpPr/>
          <p:nvPr/>
        </p:nvSpPr>
        <p:spPr>
          <a:xfrm>
            <a:off x="640080" y="713232"/>
            <a:ext cx="9052560" cy="566928"/>
          </a:xfrm>
          <a:prstGeom prst="rect">
            <a:avLst/>
          </a:prstGeom>
          <a:noFill/>
          <a:ln/>
        </p:spPr>
        <p:txBody>
          <a:bodyPr wrap="square" lIns="0" tIns="0" rIns="0" bIns="0" rtlCol="0" anchor="ctr"/>
          <a:lstStyle/>
          <a:p>
            <a:pPr indent="0" marL="0">
              <a:buNone/>
            </a:pPr>
            <a:r>
              <a:rPr lang="en-US" sz="3000" b="1" dirty="0">
                <a:solidFill>
                  <a:srgbClr val="17212B"/>
                </a:solidFill>
                <a:latin typeface="Aptos Display" pitchFamily="34" charset="0"/>
                <a:ea typeface="Aptos Display" pitchFamily="34" charset="-122"/>
                <a:cs typeface="Aptos Display" pitchFamily="34" charset="-120"/>
              </a:rPr>
              <a:t>Drainage Easements</a:t>
            </a:r>
            <a:endParaRPr lang="en-US" sz="3000" dirty="0"/>
          </a:p>
        </p:txBody>
      </p:sp>
      <p:sp>
        <p:nvSpPr>
          <p:cNvPr id="5" name="Text 3"/>
          <p:cNvSpPr/>
          <p:nvPr/>
        </p:nvSpPr>
        <p:spPr>
          <a:xfrm>
            <a:off x="658368" y="1298448"/>
            <a:ext cx="9875520" cy="329184"/>
          </a:xfrm>
          <a:prstGeom prst="rect">
            <a:avLst/>
          </a:prstGeom>
          <a:noFill/>
          <a:ln/>
        </p:spPr>
        <p:txBody>
          <a:bodyPr wrap="square" lIns="0" tIns="0" rIns="0" bIns="0" rtlCol="0" anchor="ctr"/>
          <a:lstStyle/>
          <a:p>
            <a:pPr indent="0" marL="0">
              <a:buNone/>
            </a:pPr>
            <a:r>
              <a:rPr lang="en-US" sz="1350" dirty="0">
                <a:solidFill>
                  <a:srgbClr val="5E6B78"/>
                </a:solidFill>
                <a:latin typeface="Aptos" pitchFamily="34" charset="0"/>
                <a:ea typeface="Aptos" pitchFamily="34" charset="-122"/>
                <a:cs typeface="Aptos" pitchFamily="34" charset="-120"/>
              </a:rPr>
              <a:t>9 min</a:t>
            </a:r>
            <a:endParaRPr lang="en-US" sz="1350" dirty="0"/>
          </a:p>
        </p:txBody>
      </p:sp>
      <p:sp>
        <p:nvSpPr>
          <p:cNvPr id="6" name="Text 4"/>
          <p:cNvSpPr/>
          <p:nvPr/>
        </p:nvSpPr>
        <p:spPr>
          <a:xfrm>
            <a:off x="713232" y="1719072"/>
            <a:ext cx="448056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Governing language</a:t>
            </a:r>
            <a:endParaRPr lang="en-US" sz="1500" dirty="0"/>
          </a:p>
        </p:txBody>
      </p:sp>
      <p:sp>
        <p:nvSpPr>
          <p:cNvPr id="7" name="Text 5"/>
          <p:cNvSpPr/>
          <p:nvPr/>
        </p:nvSpPr>
        <p:spPr>
          <a:xfrm>
            <a:off x="713232" y="2148840"/>
            <a:ext cx="5394960" cy="2926080"/>
          </a:xfrm>
          <a:prstGeom prst="rect">
            <a:avLst/>
          </a:prstGeom>
          <a:noFill/>
          <a:ln/>
        </p:spPr>
        <p:txBody>
          <a:bodyPr wrap="square" lIns="254" tIns="254" rIns="254" bIns="254"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"No building or other structure shall be placed or permitted to remain on any Lot which may damage or interfere with the use, maintenance, repair, accessibility, or replacement of such drainage facilities and appurtenances."</a:t>
            </a:r>
            <a:endParaRPr lang="en-US" sz="2050" dirty="0"/>
          </a:p>
        </p:txBody>
      </p:sp>
      <p:sp>
        <p:nvSpPr>
          <p:cNvPr id="8" name="Shape 6"/>
          <p:cNvSpPr/>
          <p:nvPr/>
        </p:nvSpPr>
        <p:spPr>
          <a:xfrm>
            <a:off x="6355080" y="1783080"/>
            <a:ext cx="0" cy="3749040"/>
          </a:xfrm>
          <a:prstGeom prst="line">
            <a:avLst/>
          </a:prstGeom>
          <a:noFill/>
          <a:ln w="13970">
            <a:solidFill>
              <a:srgbClr val="C9D8D2"/>
            </a:solidFill>
            <a:prstDash val="solid"/>
          </a:ln>
        </p:spPr>
      </p:sp>
      <p:sp>
        <p:nvSpPr>
          <p:cNvPr id="9" name="Text 7"/>
          <p:cNvSpPr/>
          <p:nvPr/>
        </p:nvSpPr>
        <p:spPr>
          <a:xfrm>
            <a:off x="6784848" y="1719072"/>
            <a:ext cx="411480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Concerns to discuss</a:t>
            </a:r>
            <a:endParaRPr lang="en-US" sz="1500" dirty="0"/>
          </a:p>
        </p:txBody>
      </p:sp>
      <p:sp>
        <p:nvSpPr>
          <p:cNvPr id="10" name="Shape 8"/>
          <p:cNvSpPr/>
          <p:nvPr/>
        </p:nvSpPr>
        <p:spPr>
          <a:xfrm>
            <a:off x="6821424" y="2331720"/>
            <a:ext cx="82296" cy="82296"/>
          </a:xfrm>
          <a:prstGeom prst="ellipse">
            <a:avLst/>
          </a:prstGeom>
          <a:solidFill>
            <a:srgbClr val="C99A3F"/>
          </a:solidFill>
          <a:ln w="12700">
            <a:solidFill>
              <a:srgbClr val="C99A3F"/>
            </a:solidFill>
            <a:prstDash val="solid"/>
          </a:ln>
        </p:spPr>
      </p:sp>
      <p:sp>
        <p:nvSpPr>
          <p:cNvPr id="11" name="Text 9"/>
          <p:cNvSpPr/>
          <p:nvPr/>
        </p:nvSpPr>
        <p:spPr>
          <a:xfrm>
            <a:off x="7022592" y="2231136"/>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Stormwater flow between lots</a:t>
            </a:r>
            <a:endParaRPr lang="en-US" sz="2050" dirty="0"/>
          </a:p>
        </p:txBody>
      </p:sp>
      <p:sp>
        <p:nvSpPr>
          <p:cNvPr id="12" name="Shape 10"/>
          <p:cNvSpPr/>
          <p:nvPr/>
        </p:nvSpPr>
        <p:spPr>
          <a:xfrm>
            <a:off x="6821424" y="2935224"/>
            <a:ext cx="82296" cy="82296"/>
          </a:xfrm>
          <a:prstGeom prst="ellipse">
            <a:avLst/>
          </a:prstGeom>
          <a:solidFill>
            <a:srgbClr val="C99A3F"/>
          </a:solidFill>
          <a:ln w="12700">
            <a:solidFill>
              <a:srgbClr val="C99A3F"/>
            </a:solidFill>
            <a:prstDash val="solid"/>
          </a:ln>
        </p:spPr>
      </p:sp>
      <p:sp>
        <p:nvSpPr>
          <p:cNvPr id="13" name="Text 11"/>
          <p:cNvSpPr/>
          <p:nvPr/>
        </p:nvSpPr>
        <p:spPr>
          <a:xfrm>
            <a:off x="7022592" y="2834640"/>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Utility and maintenance access</a:t>
            </a:r>
            <a:endParaRPr lang="en-US" sz="2050" dirty="0"/>
          </a:p>
        </p:txBody>
      </p:sp>
      <p:sp>
        <p:nvSpPr>
          <p:cNvPr id="14" name="Shape 12"/>
          <p:cNvSpPr/>
          <p:nvPr/>
        </p:nvSpPr>
        <p:spPr>
          <a:xfrm>
            <a:off x="6821424" y="3538728"/>
            <a:ext cx="82296" cy="82296"/>
          </a:xfrm>
          <a:prstGeom prst="ellipse">
            <a:avLst/>
          </a:prstGeom>
          <a:solidFill>
            <a:srgbClr val="C99A3F"/>
          </a:solidFill>
          <a:ln w="12700">
            <a:solidFill>
              <a:srgbClr val="C99A3F"/>
            </a:solidFill>
            <a:prstDash val="solid"/>
          </a:ln>
        </p:spPr>
      </p:sp>
      <p:sp>
        <p:nvSpPr>
          <p:cNvPr id="15" name="Text 13"/>
          <p:cNvSpPr/>
          <p:nvPr/>
        </p:nvSpPr>
        <p:spPr>
          <a:xfrm>
            <a:off x="7022592" y="3438144"/>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Landscaping, grading, and mounding impacts</a:t>
            </a:r>
            <a:endParaRPr lang="en-US" sz="2050" dirty="0"/>
          </a:p>
        </p:txBody>
      </p:sp>
      <p:sp>
        <p:nvSpPr>
          <p:cNvPr id="16" name="Shape 14"/>
          <p:cNvSpPr/>
          <p:nvPr/>
        </p:nvSpPr>
        <p:spPr>
          <a:xfrm>
            <a:off x="6821424" y="4142232"/>
            <a:ext cx="82296" cy="82296"/>
          </a:xfrm>
          <a:prstGeom prst="ellipse">
            <a:avLst/>
          </a:prstGeom>
          <a:solidFill>
            <a:srgbClr val="C99A3F"/>
          </a:solidFill>
          <a:ln w="12700">
            <a:solidFill>
              <a:srgbClr val="C99A3F"/>
            </a:solidFill>
            <a:prstDash val="solid"/>
          </a:ln>
        </p:spPr>
      </p:sp>
      <p:sp>
        <p:nvSpPr>
          <p:cNvPr id="17" name="Text 15"/>
          <p:cNvSpPr/>
          <p:nvPr/>
        </p:nvSpPr>
        <p:spPr>
          <a:xfrm>
            <a:off x="7022592" y="4041648"/>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Documentation needed before approval</a:t>
            </a:r>
            <a:endParaRPr lang="en-US" sz="2050" dirty="0"/>
          </a:p>
        </p:txBody>
      </p:sp>
      <p:sp>
        <p:nvSpPr>
          <p:cNvPr id="18" name="Text 16"/>
          <p:cNvSpPr/>
          <p:nvPr/>
        </p:nvSpPr>
        <p:spPr>
          <a:xfrm>
            <a:off x="713232" y="5715000"/>
            <a:ext cx="10469880" cy="310896"/>
          </a:xfrm>
          <a:prstGeom prst="rect">
            <a:avLst/>
          </a:prstGeom>
          <a:noFill/>
          <a:ln/>
        </p:spPr>
        <p:txBody>
          <a:bodyPr wrap="square" rtlCol="0" anchor="ctr">
            <a:normAutofit/>
          </a:bodyPr>
          <a:lstStyle/>
          <a:p>
            <a:pPr indent="0" marL="0">
              <a:buNone/>
            </a:pPr>
            <a:r>
              <a:rPr lang="en-US" sz="1250" i="1" dirty="0">
                <a:solidFill>
                  <a:srgbClr val="5E6B78"/>
                </a:solidFill>
                <a:latin typeface="Aptos" pitchFamily="34" charset="0"/>
                <a:ea typeface="Aptos" pitchFamily="34" charset="-122"/>
                <a:cs typeface="Aptos" pitchFamily="34" charset="-120"/>
              </a:rPr>
              <a:t>Source: CC&amp;R drainage/easement language; ARC Guidelines D.3 Fine Grading and Mounding</a:t>
            </a:r>
            <a:endParaRPr lang="en-US" sz="1250" dirty="0"/>
          </a:p>
        </p:txBody>
      </p:sp>
      <p:sp>
        <p:nvSpPr>
          <p:cNvPr id="19" name="Shape 17"/>
          <p:cNvSpPr/>
          <p:nvPr/>
        </p:nvSpPr>
        <p:spPr>
          <a:xfrm>
            <a:off x="594360" y="6345936"/>
            <a:ext cx="10972800" cy="0"/>
          </a:xfrm>
          <a:prstGeom prst="line">
            <a:avLst/>
          </a:prstGeom>
          <a:noFill/>
          <a:ln w="12700">
            <a:solidFill>
              <a:srgbClr val="C9D8D2"/>
            </a:solidFill>
            <a:prstDash val="solid"/>
          </a:ln>
        </p:spPr>
      </p:sp>
      <p:sp>
        <p:nvSpPr>
          <p:cNvPr id="20" name="Text 18"/>
          <p:cNvSpPr/>
          <p:nvPr/>
        </p:nvSpPr>
        <p:spPr>
          <a:xfrm>
            <a:off x="594360" y="6446520"/>
            <a:ext cx="9966960" cy="201168"/>
          </a:xfrm>
          <a:prstGeom prst="rect">
            <a:avLst/>
          </a:prstGeom>
          <a:noFill/>
          <a:ln/>
        </p:spPr>
        <p:txBody>
          <a:bodyPr wrap="square" rtlCol="0" anchor="ctr">
            <a:normAutofit/>
          </a:bodyPr>
          <a:lstStyle/>
          <a:p>
            <a:pPr indent="0" marL="0">
              <a:buNone/>
            </a:pPr>
            <a:r>
              <a:rPr lang="en-US" sz="950" dirty="0">
                <a:solidFill>
                  <a:srgbClr val="5E6B78"/>
                </a:solidFill>
                <a:latin typeface="Aptos" pitchFamily="34" charset="0"/>
                <a:ea typeface="Aptos" pitchFamily="34" charset="-122"/>
                <a:cs typeface="Aptos" pitchFamily="34" charset="-120"/>
              </a:rPr>
              <a:t>Questions removed from slide content and retained as optional facilitator notes.</a:t>
            </a:r>
            <a:endParaRPr lang="en-US" sz="950" dirty="0"/>
          </a:p>
        </p:txBody>
      </p:sp>
      <p:sp>
        <p:nvSpPr>
          <p:cNvPr id="21" name="Text 19"/>
          <p:cNvSpPr/>
          <p:nvPr/>
        </p:nvSpPr>
        <p:spPr>
          <a:xfrm>
            <a:off x="11064240" y="6419088"/>
            <a:ext cx="502920" cy="228600"/>
          </a:xfrm>
          <a:prstGeom prst="rect">
            <a:avLst/>
          </a:prstGeom>
          <a:noFill/>
          <a:ln/>
        </p:spPr>
        <p:txBody>
          <a:bodyPr wrap="square" rtlCol="0" anchor="ctr"/>
          <a:lstStyle/>
          <a:p>
            <a:pPr algn="r" indent="0" marL="0">
              <a:buNone/>
            </a:pPr>
            <a:r>
              <a:rPr lang="en-US" sz="1000" dirty="0">
                <a:solidFill>
                  <a:srgbClr val="5E6B78"/>
                </a:solidFill>
                <a:latin typeface="Aptos" pitchFamily="34" charset="0"/>
                <a:ea typeface="Aptos" pitchFamily="34" charset="-122"/>
                <a:cs typeface="Aptos"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6E62"/>
          </a:solidFill>
          <a:ln w="12700">
            <a:solidFill>
              <a:srgbClr val="2B6E62"/>
            </a:solidFill>
            <a:prstDash val="solid"/>
          </a:ln>
        </p:spPr>
      </p:sp>
      <p:sp>
        <p:nvSpPr>
          <p:cNvPr id="3" name="Text 1"/>
          <p:cNvSpPr/>
          <p:nvPr/>
        </p:nvSpPr>
        <p:spPr>
          <a:xfrm>
            <a:off x="658368" y="411480"/>
            <a:ext cx="3657600" cy="228600"/>
          </a:xfrm>
          <a:prstGeom prst="rect">
            <a:avLst/>
          </a:prstGeom>
          <a:noFill/>
          <a:ln/>
        </p:spPr>
        <p:txBody>
          <a:bodyPr wrap="square" rtlCol="0" anchor="ctr"/>
          <a:lstStyle/>
          <a:p>
            <a:pPr indent="0" marL="0">
              <a:buNone/>
            </a:pPr>
            <a:r>
              <a:rPr lang="en-US" sz="1050" b="1" dirty="0">
                <a:solidFill>
                  <a:srgbClr val="2B6E62"/>
                </a:solidFill>
                <a:latin typeface="Aptos" pitchFamily="34" charset="0"/>
                <a:ea typeface="Aptos" pitchFamily="34" charset="-122"/>
                <a:cs typeface="Aptos" pitchFamily="34" charset="-120"/>
              </a:rPr>
              <a:t>TOPIC 4</a:t>
            </a:r>
            <a:endParaRPr lang="en-US" sz="1050" dirty="0"/>
          </a:p>
        </p:txBody>
      </p:sp>
      <p:sp>
        <p:nvSpPr>
          <p:cNvPr id="4" name="Text 2"/>
          <p:cNvSpPr/>
          <p:nvPr/>
        </p:nvSpPr>
        <p:spPr>
          <a:xfrm>
            <a:off x="640080" y="713232"/>
            <a:ext cx="9052560" cy="566928"/>
          </a:xfrm>
          <a:prstGeom prst="rect">
            <a:avLst/>
          </a:prstGeom>
          <a:noFill/>
          <a:ln/>
        </p:spPr>
        <p:txBody>
          <a:bodyPr wrap="square" lIns="0" tIns="0" rIns="0" bIns="0" rtlCol="0" anchor="ctr"/>
          <a:lstStyle/>
          <a:p>
            <a:pPr indent="0" marL="0">
              <a:buNone/>
            </a:pPr>
            <a:r>
              <a:rPr lang="en-US" sz="3000" b="1" dirty="0">
                <a:solidFill>
                  <a:srgbClr val="17212B"/>
                </a:solidFill>
                <a:latin typeface="Aptos Display" pitchFamily="34" charset="0"/>
                <a:ea typeface="Aptos Display" pitchFamily="34" charset="-122"/>
                <a:cs typeface="Aptos Display" pitchFamily="34" charset="-120"/>
              </a:rPr>
              <a:t>Aesthetic Preferences</a:t>
            </a:r>
            <a:endParaRPr lang="en-US" sz="3000" dirty="0"/>
          </a:p>
        </p:txBody>
      </p:sp>
      <p:sp>
        <p:nvSpPr>
          <p:cNvPr id="5" name="Text 3"/>
          <p:cNvSpPr/>
          <p:nvPr/>
        </p:nvSpPr>
        <p:spPr>
          <a:xfrm>
            <a:off x="658368" y="1298448"/>
            <a:ext cx="9875520" cy="329184"/>
          </a:xfrm>
          <a:prstGeom prst="rect">
            <a:avLst/>
          </a:prstGeom>
          <a:noFill/>
          <a:ln/>
        </p:spPr>
        <p:txBody>
          <a:bodyPr wrap="square" lIns="0" tIns="0" rIns="0" bIns="0" rtlCol="0" anchor="ctr"/>
          <a:lstStyle/>
          <a:p>
            <a:pPr indent="0" marL="0">
              <a:buNone/>
            </a:pPr>
            <a:r>
              <a:rPr lang="en-US" sz="1350" dirty="0">
                <a:solidFill>
                  <a:srgbClr val="5E6B78"/>
                </a:solidFill>
                <a:latin typeface="Aptos" pitchFamily="34" charset="0"/>
                <a:ea typeface="Aptos" pitchFamily="34" charset="-122"/>
                <a:cs typeface="Aptos" pitchFamily="34" charset="-120"/>
              </a:rPr>
              <a:t>8 min</a:t>
            </a:r>
            <a:endParaRPr lang="en-US" sz="1350" dirty="0"/>
          </a:p>
        </p:txBody>
      </p:sp>
      <p:sp>
        <p:nvSpPr>
          <p:cNvPr id="6" name="Text 4"/>
          <p:cNvSpPr/>
          <p:nvPr/>
        </p:nvSpPr>
        <p:spPr>
          <a:xfrm>
            <a:off x="713232" y="1719072"/>
            <a:ext cx="448056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Governing language</a:t>
            </a:r>
            <a:endParaRPr lang="en-US" sz="1500" dirty="0"/>
          </a:p>
        </p:txBody>
      </p:sp>
      <p:sp>
        <p:nvSpPr>
          <p:cNvPr id="7" name="Text 5"/>
          <p:cNvSpPr/>
          <p:nvPr/>
        </p:nvSpPr>
        <p:spPr>
          <a:xfrm>
            <a:off x="713232" y="2148840"/>
            <a:ext cx="5394960" cy="2926080"/>
          </a:xfrm>
          <a:prstGeom prst="rect">
            <a:avLst/>
          </a:prstGeom>
          <a:noFill/>
          <a:ln/>
        </p:spPr>
        <p:txBody>
          <a:bodyPr wrap="square" lIns="254" tIns="254" rIns="254" bIns="254"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"The Guidelines promote those qualities in Umstead Grove that enhance the attractiveness and functional utility of the community. Gutters and downspouts require the prior written approval of the Committee and will be considered if the finish matches the color of the dwelling unit."</a:t>
            </a:r>
            <a:endParaRPr lang="en-US" sz="2050" dirty="0"/>
          </a:p>
        </p:txBody>
      </p:sp>
      <p:sp>
        <p:nvSpPr>
          <p:cNvPr id="8" name="Shape 6"/>
          <p:cNvSpPr/>
          <p:nvPr/>
        </p:nvSpPr>
        <p:spPr>
          <a:xfrm>
            <a:off x="6355080" y="1783080"/>
            <a:ext cx="0" cy="3749040"/>
          </a:xfrm>
          <a:prstGeom prst="line">
            <a:avLst/>
          </a:prstGeom>
          <a:noFill/>
          <a:ln w="13970">
            <a:solidFill>
              <a:srgbClr val="C9D8D2"/>
            </a:solidFill>
            <a:prstDash val="solid"/>
          </a:ln>
        </p:spPr>
      </p:sp>
      <p:sp>
        <p:nvSpPr>
          <p:cNvPr id="9" name="Text 7"/>
          <p:cNvSpPr/>
          <p:nvPr/>
        </p:nvSpPr>
        <p:spPr>
          <a:xfrm>
            <a:off x="6784848" y="1719072"/>
            <a:ext cx="411480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Concerns to discuss</a:t>
            </a:r>
            <a:endParaRPr lang="en-US" sz="1500" dirty="0"/>
          </a:p>
        </p:txBody>
      </p:sp>
      <p:sp>
        <p:nvSpPr>
          <p:cNvPr id="10" name="Shape 8"/>
          <p:cNvSpPr/>
          <p:nvPr/>
        </p:nvSpPr>
        <p:spPr>
          <a:xfrm>
            <a:off x="6821424" y="2331720"/>
            <a:ext cx="82296" cy="82296"/>
          </a:xfrm>
          <a:prstGeom prst="ellipse">
            <a:avLst/>
          </a:prstGeom>
          <a:solidFill>
            <a:srgbClr val="C99A3F"/>
          </a:solidFill>
          <a:ln w="12700">
            <a:solidFill>
              <a:srgbClr val="C99A3F"/>
            </a:solidFill>
            <a:prstDash val="solid"/>
          </a:ln>
        </p:spPr>
      </p:sp>
      <p:sp>
        <p:nvSpPr>
          <p:cNvPr id="11" name="Text 9"/>
          <p:cNvSpPr/>
          <p:nvPr/>
        </p:nvSpPr>
        <p:spPr>
          <a:xfrm>
            <a:off x="7022592" y="2231136"/>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Community vision and aesthetic direction</a:t>
            </a:r>
            <a:endParaRPr lang="en-US" sz="2050" dirty="0"/>
          </a:p>
        </p:txBody>
      </p:sp>
      <p:sp>
        <p:nvSpPr>
          <p:cNvPr id="12" name="Shape 10"/>
          <p:cNvSpPr/>
          <p:nvPr/>
        </p:nvSpPr>
        <p:spPr>
          <a:xfrm>
            <a:off x="6821424" y="2935224"/>
            <a:ext cx="82296" cy="82296"/>
          </a:xfrm>
          <a:prstGeom prst="ellipse">
            <a:avLst/>
          </a:prstGeom>
          <a:solidFill>
            <a:srgbClr val="C99A3F"/>
          </a:solidFill>
          <a:ln w="12700">
            <a:solidFill>
              <a:srgbClr val="C99A3F"/>
            </a:solidFill>
            <a:prstDash val="solid"/>
          </a:ln>
        </p:spPr>
      </p:sp>
      <p:sp>
        <p:nvSpPr>
          <p:cNvPr id="13" name="Text 11"/>
          <p:cNvSpPr/>
          <p:nvPr/>
        </p:nvSpPr>
        <p:spPr>
          <a:xfrm>
            <a:off x="7022592" y="2834640"/>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Color matching and visible exterior items</a:t>
            </a:r>
            <a:endParaRPr lang="en-US" sz="2050" dirty="0"/>
          </a:p>
        </p:txBody>
      </p:sp>
      <p:sp>
        <p:nvSpPr>
          <p:cNvPr id="14" name="Shape 12"/>
          <p:cNvSpPr/>
          <p:nvPr/>
        </p:nvSpPr>
        <p:spPr>
          <a:xfrm>
            <a:off x="6821424" y="3538728"/>
            <a:ext cx="82296" cy="82296"/>
          </a:xfrm>
          <a:prstGeom prst="ellipse">
            <a:avLst/>
          </a:prstGeom>
          <a:solidFill>
            <a:srgbClr val="C99A3F"/>
          </a:solidFill>
          <a:ln w="12700">
            <a:solidFill>
              <a:srgbClr val="C99A3F"/>
            </a:solidFill>
            <a:prstDash val="solid"/>
          </a:ln>
        </p:spPr>
      </p:sp>
      <p:sp>
        <p:nvSpPr>
          <p:cNvPr id="15" name="Text 13"/>
          <p:cNvSpPr/>
          <p:nvPr/>
        </p:nvSpPr>
        <p:spPr>
          <a:xfrm>
            <a:off x="7022592" y="3438144"/>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Neighbor input during review</a:t>
            </a:r>
            <a:endParaRPr lang="en-US" sz="2050" dirty="0"/>
          </a:p>
        </p:txBody>
      </p:sp>
      <p:sp>
        <p:nvSpPr>
          <p:cNvPr id="16" name="Shape 14"/>
          <p:cNvSpPr/>
          <p:nvPr/>
        </p:nvSpPr>
        <p:spPr>
          <a:xfrm>
            <a:off x="6821424" y="4142232"/>
            <a:ext cx="82296" cy="82296"/>
          </a:xfrm>
          <a:prstGeom prst="ellipse">
            <a:avLst/>
          </a:prstGeom>
          <a:solidFill>
            <a:srgbClr val="C99A3F"/>
          </a:solidFill>
          <a:ln w="12700">
            <a:solidFill>
              <a:srgbClr val="C99A3F"/>
            </a:solidFill>
            <a:prstDash val="solid"/>
          </a:ln>
        </p:spPr>
      </p:sp>
      <p:sp>
        <p:nvSpPr>
          <p:cNvPr id="17" name="Text 15"/>
          <p:cNvSpPr/>
          <p:nvPr/>
        </p:nvSpPr>
        <p:spPr>
          <a:xfrm>
            <a:off x="7022592" y="4041648"/>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Consistency without overcorrecting</a:t>
            </a:r>
            <a:endParaRPr lang="en-US" sz="2050" dirty="0"/>
          </a:p>
        </p:txBody>
      </p:sp>
      <p:sp>
        <p:nvSpPr>
          <p:cNvPr id="18" name="Text 16"/>
          <p:cNvSpPr/>
          <p:nvPr/>
        </p:nvSpPr>
        <p:spPr>
          <a:xfrm>
            <a:off x="713232" y="5715000"/>
            <a:ext cx="10469880" cy="310896"/>
          </a:xfrm>
          <a:prstGeom prst="rect">
            <a:avLst/>
          </a:prstGeom>
          <a:noFill/>
          <a:ln/>
        </p:spPr>
        <p:txBody>
          <a:bodyPr wrap="square" rtlCol="0" anchor="ctr">
            <a:normAutofit/>
          </a:bodyPr>
          <a:lstStyle/>
          <a:p>
            <a:pPr indent="0" marL="0">
              <a:buNone/>
            </a:pPr>
            <a:r>
              <a:rPr lang="en-US" sz="1250" i="1" dirty="0">
                <a:solidFill>
                  <a:srgbClr val="5E6B78"/>
                </a:solidFill>
                <a:latin typeface="Aptos" pitchFamily="34" charset="0"/>
                <a:ea typeface="Aptos" pitchFamily="34" charset="-122"/>
                <a:cs typeface="Aptos" pitchFamily="34" charset="-120"/>
              </a:rPr>
              <a:t>Source: ARC Guidelines C.1 General Principles; C.13 Gutters and Downspouts</a:t>
            </a:r>
            <a:endParaRPr lang="en-US" sz="1250" dirty="0"/>
          </a:p>
        </p:txBody>
      </p:sp>
      <p:sp>
        <p:nvSpPr>
          <p:cNvPr id="19" name="Shape 17"/>
          <p:cNvSpPr/>
          <p:nvPr/>
        </p:nvSpPr>
        <p:spPr>
          <a:xfrm>
            <a:off x="594360" y="6345936"/>
            <a:ext cx="10972800" cy="0"/>
          </a:xfrm>
          <a:prstGeom prst="line">
            <a:avLst/>
          </a:prstGeom>
          <a:noFill/>
          <a:ln w="12700">
            <a:solidFill>
              <a:srgbClr val="C9D8D2"/>
            </a:solidFill>
            <a:prstDash val="solid"/>
          </a:ln>
        </p:spPr>
      </p:sp>
      <p:sp>
        <p:nvSpPr>
          <p:cNvPr id="20" name="Text 18"/>
          <p:cNvSpPr/>
          <p:nvPr/>
        </p:nvSpPr>
        <p:spPr>
          <a:xfrm>
            <a:off x="594360" y="6446520"/>
            <a:ext cx="9966960" cy="201168"/>
          </a:xfrm>
          <a:prstGeom prst="rect">
            <a:avLst/>
          </a:prstGeom>
          <a:noFill/>
          <a:ln/>
        </p:spPr>
        <p:txBody>
          <a:bodyPr wrap="square" rtlCol="0" anchor="ctr">
            <a:normAutofit/>
          </a:bodyPr>
          <a:lstStyle/>
          <a:p>
            <a:pPr indent="0" marL="0">
              <a:buNone/>
            </a:pPr>
            <a:r>
              <a:rPr lang="en-US" sz="950" dirty="0">
                <a:solidFill>
                  <a:srgbClr val="5E6B78"/>
                </a:solidFill>
                <a:latin typeface="Aptos" pitchFamily="34" charset="0"/>
                <a:ea typeface="Aptos" pitchFamily="34" charset="-122"/>
                <a:cs typeface="Aptos" pitchFamily="34" charset="-120"/>
              </a:rPr>
              <a:t>Questions removed from slide content and retained as optional facilitator notes.</a:t>
            </a:r>
            <a:endParaRPr lang="en-US" sz="950" dirty="0"/>
          </a:p>
        </p:txBody>
      </p:sp>
      <p:sp>
        <p:nvSpPr>
          <p:cNvPr id="21" name="Text 19"/>
          <p:cNvSpPr/>
          <p:nvPr/>
        </p:nvSpPr>
        <p:spPr>
          <a:xfrm>
            <a:off x="11064240" y="6419088"/>
            <a:ext cx="502920" cy="228600"/>
          </a:xfrm>
          <a:prstGeom prst="rect">
            <a:avLst/>
          </a:prstGeom>
          <a:noFill/>
          <a:ln/>
        </p:spPr>
        <p:txBody>
          <a:bodyPr wrap="square" rtlCol="0" anchor="ctr"/>
          <a:lstStyle/>
          <a:p>
            <a:pPr algn="r" indent="0" marL="0">
              <a:buNone/>
            </a:pPr>
            <a:r>
              <a:rPr lang="en-US" sz="1000" dirty="0">
                <a:solidFill>
                  <a:srgbClr val="5E6B78"/>
                </a:solidFill>
                <a:latin typeface="Aptos" pitchFamily="34" charset="0"/>
                <a:ea typeface="Aptos" pitchFamily="34" charset="-122"/>
                <a:cs typeface="Aptos"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6E62"/>
          </a:solidFill>
          <a:ln w="12700">
            <a:solidFill>
              <a:srgbClr val="2B6E62"/>
            </a:solidFill>
            <a:prstDash val="solid"/>
          </a:ln>
        </p:spPr>
      </p:sp>
      <p:sp>
        <p:nvSpPr>
          <p:cNvPr id="3" name="Text 1"/>
          <p:cNvSpPr/>
          <p:nvPr/>
        </p:nvSpPr>
        <p:spPr>
          <a:xfrm>
            <a:off x="658368" y="411480"/>
            <a:ext cx="3657600" cy="228600"/>
          </a:xfrm>
          <a:prstGeom prst="rect">
            <a:avLst/>
          </a:prstGeom>
          <a:noFill/>
          <a:ln/>
        </p:spPr>
        <p:txBody>
          <a:bodyPr wrap="square" rtlCol="0" anchor="ctr"/>
          <a:lstStyle/>
          <a:p>
            <a:pPr indent="0" marL="0">
              <a:buNone/>
            </a:pPr>
            <a:r>
              <a:rPr lang="en-US" sz="1050" b="1" dirty="0">
                <a:solidFill>
                  <a:srgbClr val="2B6E62"/>
                </a:solidFill>
                <a:latin typeface="Aptos" pitchFamily="34" charset="0"/>
                <a:ea typeface="Aptos" pitchFamily="34" charset="-122"/>
                <a:cs typeface="Aptos" pitchFamily="34" charset="-120"/>
              </a:rPr>
              <a:t>TOPIC 5</a:t>
            </a:r>
            <a:endParaRPr lang="en-US" sz="1050" dirty="0"/>
          </a:p>
        </p:txBody>
      </p:sp>
      <p:sp>
        <p:nvSpPr>
          <p:cNvPr id="4" name="Text 2"/>
          <p:cNvSpPr/>
          <p:nvPr/>
        </p:nvSpPr>
        <p:spPr>
          <a:xfrm>
            <a:off x="640080" y="713232"/>
            <a:ext cx="9052560" cy="566928"/>
          </a:xfrm>
          <a:prstGeom prst="rect">
            <a:avLst/>
          </a:prstGeom>
          <a:noFill/>
          <a:ln/>
        </p:spPr>
        <p:txBody>
          <a:bodyPr wrap="square" lIns="0" tIns="0" rIns="0" bIns="0" rtlCol="0" anchor="ctr"/>
          <a:lstStyle/>
          <a:p>
            <a:pPr indent="0" marL="0">
              <a:buNone/>
            </a:pPr>
            <a:r>
              <a:rPr lang="en-US" sz="3000" b="1" dirty="0">
                <a:solidFill>
                  <a:srgbClr val="17212B"/>
                </a:solidFill>
                <a:latin typeface="Aptos Display" pitchFamily="34" charset="0"/>
                <a:ea typeface="Aptos Display" pitchFamily="34" charset="-122"/>
                <a:cs typeface="Aptos Display" pitchFamily="34" charset="-120"/>
              </a:rPr>
              <a:t>Approval for Softscaping</a:t>
            </a:r>
            <a:endParaRPr lang="en-US" sz="3000" dirty="0"/>
          </a:p>
        </p:txBody>
      </p:sp>
      <p:sp>
        <p:nvSpPr>
          <p:cNvPr id="5" name="Text 3"/>
          <p:cNvSpPr/>
          <p:nvPr/>
        </p:nvSpPr>
        <p:spPr>
          <a:xfrm>
            <a:off x="658368" y="1298448"/>
            <a:ext cx="9875520" cy="329184"/>
          </a:xfrm>
          <a:prstGeom prst="rect">
            <a:avLst/>
          </a:prstGeom>
          <a:noFill/>
          <a:ln/>
        </p:spPr>
        <p:txBody>
          <a:bodyPr wrap="square" lIns="0" tIns="0" rIns="0" bIns="0" rtlCol="0" anchor="ctr"/>
          <a:lstStyle/>
          <a:p>
            <a:pPr indent="0" marL="0">
              <a:buNone/>
            </a:pPr>
            <a:r>
              <a:rPr lang="en-US" sz="1350" dirty="0">
                <a:solidFill>
                  <a:srgbClr val="5E6B78"/>
                </a:solidFill>
                <a:latin typeface="Aptos" pitchFamily="34" charset="0"/>
                <a:ea typeface="Aptos" pitchFamily="34" charset="-122"/>
                <a:cs typeface="Aptos" pitchFamily="34" charset="-120"/>
              </a:rPr>
              <a:t>9 min</a:t>
            </a:r>
            <a:endParaRPr lang="en-US" sz="1350" dirty="0"/>
          </a:p>
        </p:txBody>
      </p:sp>
      <p:sp>
        <p:nvSpPr>
          <p:cNvPr id="6" name="Text 4"/>
          <p:cNvSpPr/>
          <p:nvPr/>
        </p:nvSpPr>
        <p:spPr>
          <a:xfrm>
            <a:off x="713232" y="1719072"/>
            <a:ext cx="448056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Governing language</a:t>
            </a:r>
            <a:endParaRPr lang="en-US" sz="1500" dirty="0"/>
          </a:p>
        </p:txBody>
      </p:sp>
      <p:sp>
        <p:nvSpPr>
          <p:cNvPr id="7" name="Text 5"/>
          <p:cNvSpPr/>
          <p:nvPr/>
        </p:nvSpPr>
        <p:spPr>
          <a:xfrm>
            <a:off x="713232" y="2148840"/>
            <a:ext cx="5394960" cy="2926080"/>
          </a:xfrm>
          <a:prstGeom prst="rect">
            <a:avLst/>
          </a:prstGeom>
          <a:noFill/>
          <a:ln/>
        </p:spPr>
        <p:txBody>
          <a:bodyPr wrap="square" lIns="254" tIns="254" rIns="254" bIns="254"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"Soft-scaping is defined as gardening, planting flowers, shrubs, trees, decorative edging and other natural decorative elements do not require ARC approval."</a:t>
            </a:r>
            <a:endParaRPr lang="en-US" sz="2050" dirty="0"/>
          </a:p>
        </p:txBody>
      </p:sp>
      <p:sp>
        <p:nvSpPr>
          <p:cNvPr id="8" name="Shape 6"/>
          <p:cNvSpPr/>
          <p:nvPr/>
        </p:nvSpPr>
        <p:spPr>
          <a:xfrm>
            <a:off x="6355080" y="1783080"/>
            <a:ext cx="0" cy="3749040"/>
          </a:xfrm>
          <a:prstGeom prst="line">
            <a:avLst/>
          </a:prstGeom>
          <a:noFill/>
          <a:ln w="13970">
            <a:solidFill>
              <a:srgbClr val="C9D8D2"/>
            </a:solidFill>
            <a:prstDash val="solid"/>
          </a:ln>
        </p:spPr>
      </p:sp>
      <p:sp>
        <p:nvSpPr>
          <p:cNvPr id="9" name="Text 7"/>
          <p:cNvSpPr/>
          <p:nvPr/>
        </p:nvSpPr>
        <p:spPr>
          <a:xfrm>
            <a:off x="6784848" y="1719072"/>
            <a:ext cx="4114800" cy="274320"/>
          </a:xfrm>
          <a:prstGeom prst="rect">
            <a:avLst/>
          </a:prstGeom>
          <a:noFill/>
          <a:ln/>
        </p:spPr>
        <p:txBody>
          <a:bodyPr wrap="square" rtlCol="0" anchor="ctr"/>
          <a:lstStyle/>
          <a:p>
            <a:pPr indent="0" marL="0">
              <a:buNone/>
            </a:pPr>
            <a:r>
              <a:rPr lang="en-US" sz="1500" b="1" dirty="0">
                <a:solidFill>
                  <a:srgbClr val="2B6E62"/>
                </a:solidFill>
                <a:latin typeface="Aptos" pitchFamily="34" charset="0"/>
                <a:ea typeface="Aptos" pitchFamily="34" charset="-122"/>
                <a:cs typeface="Aptos" pitchFamily="34" charset="-120"/>
              </a:rPr>
              <a:t>Concerns to discuss</a:t>
            </a:r>
            <a:endParaRPr lang="en-US" sz="1500" dirty="0"/>
          </a:p>
        </p:txBody>
      </p:sp>
      <p:sp>
        <p:nvSpPr>
          <p:cNvPr id="10" name="Shape 8"/>
          <p:cNvSpPr/>
          <p:nvPr/>
        </p:nvSpPr>
        <p:spPr>
          <a:xfrm>
            <a:off x="6821424" y="2331720"/>
            <a:ext cx="82296" cy="82296"/>
          </a:xfrm>
          <a:prstGeom prst="ellipse">
            <a:avLst/>
          </a:prstGeom>
          <a:solidFill>
            <a:srgbClr val="C99A3F"/>
          </a:solidFill>
          <a:ln w="12700">
            <a:solidFill>
              <a:srgbClr val="C99A3F"/>
            </a:solidFill>
            <a:prstDash val="solid"/>
          </a:ln>
        </p:spPr>
      </p:sp>
      <p:sp>
        <p:nvSpPr>
          <p:cNvPr id="11" name="Text 9"/>
          <p:cNvSpPr/>
          <p:nvPr/>
        </p:nvSpPr>
        <p:spPr>
          <a:xfrm>
            <a:off x="7022592" y="2231136"/>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Current exemption vs. possible clarification</a:t>
            </a:r>
            <a:endParaRPr lang="en-US" sz="2050" dirty="0"/>
          </a:p>
        </p:txBody>
      </p:sp>
      <p:sp>
        <p:nvSpPr>
          <p:cNvPr id="12" name="Shape 10"/>
          <p:cNvSpPr/>
          <p:nvPr/>
        </p:nvSpPr>
        <p:spPr>
          <a:xfrm>
            <a:off x="6821424" y="2935224"/>
            <a:ext cx="82296" cy="82296"/>
          </a:xfrm>
          <a:prstGeom prst="ellipse">
            <a:avLst/>
          </a:prstGeom>
          <a:solidFill>
            <a:srgbClr val="C99A3F"/>
          </a:solidFill>
          <a:ln w="12700">
            <a:solidFill>
              <a:srgbClr val="C99A3F"/>
            </a:solidFill>
            <a:prstDash val="solid"/>
          </a:ln>
        </p:spPr>
      </p:sp>
      <p:sp>
        <p:nvSpPr>
          <p:cNvPr id="13" name="Text 11"/>
          <p:cNvSpPr/>
          <p:nvPr/>
        </p:nvSpPr>
        <p:spPr>
          <a:xfrm>
            <a:off x="7022592" y="2834640"/>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Drainage, easement, and visibility impacts</a:t>
            </a:r>
            <a:endParaRPr lang="en-US" sz="2050" dirty="0"/>
          </a:p>
        </p:txBody>
      </p:sp>
      <p:sp>
        <p:nvSpPr>
          <p:cNvPr id="14" name="Shape 12"/>
          <p:cNvSpPr/>
          <p:nvPr/>
        </p:nvSpPr>
        <p:spPr>
          <a:xfrm>
            <a:off x="6821424" y="3538728"/>
            <a:ext cx="82296" cy="82296"/>
          </a:xfrm>
          <a:prstGeom prst="ellipse">
            <a:avLst/>
          </a:prstGeom>
          <a:solidFill>
            <a:srgbClr val="C99A3F"/>
          </a:solidFill>
          <a:ln w="12700">
            <a:solidFill>
              <a:srgbClr val="C99A3F"/>
            </a:solidFill>
            <a:prstDash val="solid"/>
          </a:ln>
        </p:spPr>
      </p:sp>
      <p:sp>
        <p:nvSpPr>
          <p:cNvPr id="15" name="Text 13"/>
          <p:cNvSpPr/>
          <p:nvPr/>
        </p:nvSpPr>
        <p:spPr>
          <a:xfrm>
            <a:off x="7022592" y="3438144"/>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Tree removal and replacement expectations</a:t>
            </a:r>
            <a:endParaRPr lang="en-US" sz="2050" dirty="0"/>
          </a:p>
        </p:txBody>
      </p:sp>
      <p:sp>
        <p:nvSpPr>
          <p:cNvPr id="16" name="Shape 14"/>
          <p:cNvSpPr/>
          <p:nvPr/>
        </p:nvSpPr>
        <p:spPr>
          <a:xfrm>
            <a:off x="6821424" y="4142232"/>
            <a:ext cx="82296" cy="82296"/>
          </a:xfrm>
          <a:prstGeom prst="ellipse">
            <a:avLst/>
          </a:prstGeom>
          <a:solidFill>
            <a:srgbClr val="C99A3F"/>
          </a:solidFill>
          <a:ln w="12700">
            <a:solidFill>
              <a:srgbClr val="C99A3F"/>
            </a:solidFill>
            <a:prstDash val="solid"/>
          </a:ln>
        </p:spPr>
      </p:sp>
      <p:sp>
        <p:nvSpPr>
          <p:cNvPr id="17" name="Text 15"/>
          <p:cNvSpPr/>
          <p:nvPr/>
        </p:nvSpPr>
        <p:spPr>
          <a:xfrm>
            <a:off x="7022592" y="4041648"/>
            <a:ext cx="4297680" cy="585216"/>
          </a:xfrm>
          <a:prstGeom prst="rect">
            <a:avLst/>
          </a:prstGeom>
          <a:noFill/>
          <a:ln/>
        </p:spPr>
        <p:txBody>
          <a:bodyPr wrap="square" rtlCol="0" anchor="ctr">
            <a:normAutofit/>
          </a:bodyPr>
          <a:lstStyle/>
          <a:p>
            <a:pPr indent="0" marL="0">
              <a:buNone/>
            </a:pPr>
            <a:r>
              <a:rPr lang="en-US" sz="2050" dirty="0">
                <a:solidFill>
                  <a:srgbClr val="17212B"/>
                </a:solidFill>
                <a:latin typeface="Aptos" pitchFamily="34" charset="0"/>
                <a:ea typeface="Aptos" pitchFamily="34" charset="-122"/>
                <a:cs typeface="Aptos" pitchFamily="34" charset="-120"/>
              </a:rPr>
              <a:t>Examples that help homeowners self-select</a:t>
            </a:r>
            <a:endParaRPr lang="en-US" sz="2050" dirty="0"/>
          </a:p>
        </p:txBody>
      </p:sp>
      <p:sp>
        <p:nvSpPr>
          <p:cNvPr id="18" name="Text 16"/>
          <p:cNvSpPr/>
          <p:nvPr/>
        </p:nvSpPr>
        <p:spPr>
          <a:xfrm>
            <a:off x="713232" y="5715000"/>
            <a:ext cx="10469880" cy="310896"/>
          </a:xfrm>
          <a:prstGeom prst="rect">
            <a:avLst/>
          </a:prstGeom>
          <a:noFill/>
          <a:ln/>
        </p:spPr>
        <p:txBody>
          <a:bodyPr wrap="square" rtlCol="0" anchor="ctr">
            <a:normAutofit/>
          </a:bodyPr>
          <a:lstStyle/>
          <a:p>
            <a:pPr indent="0" marL="0">
              <a:buNone/>
            </a:pPr>
            <a:r>
              <a:rPr lang="en-US" sz="1250" i="1" dirty="0">
                <a:solidFill>
                  <a:srgbClr val="5E6B78"/>
                </a:solidFill>
                <a:latin typeface="Aptos" pitchFamily="34" charset="0"/>
                <a:ea typeface="Aptos" pitchFamily="34" charset="-122"/>
                <a:cs typeface="Aptos" pitchFamily="34" charset="-120"/>
              </a:rPr>
              <a:t>Source: ARC Guidelines A.1 Design Review Process; D.1 Landscaping</a:t>
            </a:r>
            <a:endParaRPr lang="en-US" sz="1250" dirty="0"/>
          </a:p>
        </p:txBody>
      </p:sp>
      <p:sp>
        <p:nvSpPr>
          <p:cNvPr id="19" name="Shape 17"/>
          <p:cNvSpPr/>
          <p:nvPr/>
        </p:nvSpPr>
        <p:spPr>
          <a:xfrm>
            <a:off x="594360" y="6345936"/>
            <a:ext cx="10972800" cy="0"/>
          </a:xfrm>
          <a:prstGeom prst="line">
            <a:avLst/>
          </a:prstGeom>
          <a:noFill/>
          <a:ln w="12700">
            <a:solidFill>
              <a:srgbClr val="C9D8D2"/>
            </a:solidFill>
            <a:prstDash val="solid"/>
          </a:ln>
        </p:spPr>
      </p:sp>
      <p:sp>
        <p:nvSpPr>
          <p:cNvPr id="20" name="Text 18"/>
          <p:cNvSpPr/>
          <p:nvPr/>
        </p:nvSpPr>
        <p:spPr>
          <a:xfrm>
            <a:off x="594360" y="6446520"/>
            <a:ext cx="9966960" cy="201168"/>
          </a:xfrm>
          <a:prstGeom prst="rect">
            <a:avLst/>
          </a:prstGeom>
          <a:noFill/>
          <a:ln/>
        </p:spPr>
        <p:txBody>
          <a:bodyPr wrap="square" rtlCol="0" anchor="ctr">
            <a:normAutofit/>
          </a:bodyPr>
          <a:lstStyle/>
          <a:p>
            <a:pPr indent="0" marL="0">
              <a:buNone/>
            </a:pPr>
            <a:r>
              <a:rPr lang="en-US" sz="950" dirty="0">
                <a:solidFill>
                  <a:srgbClr val="5E6B78"/>
                </a:solidFill>
                <a:latin typeface="Aptos" pitchFamily="34" charset="0"/>
                <a:ea typeface="Aptos" pitchFamily="34" charset="-122"/>
                <a:cs typeface="Aptos" pitchFamily="34" charset="-120"/>
              </a:rPr>
              <a:t>Questions removed from slide content and retained as optional facilitator notes.</a:t>
            </a:r>
            <a:endParaRPr lang="en-US" sz="950" dirty="0"/>
          </a:p>
        </p:txBody>
      </p:sp>
      <p:sp>
        <p:nvSpPr>
          <p:cNvPr id="21" name="Text 19"/>
          <p:cNvSpPr/>
          <p:nvPr/>
        </p:nvSpPr>
        <p:spPr>
          <a:xfrm>
            <a:off x="11064240" y="6419088"/>
            <a:ext cx="502920" cy="228600"/>
          </a:xfrm>
          <a:prstGeom prst="rect">
            <a:avLst/>
          </a:prstGeom>
          <a:noFill/>
          <a:ln/>
        </p:spPr>
        <p:txBody>
          <a:bodyPr wrap="square" rtlCol="0" anchor="ctr"/>
          <a:lstStyle/>
          <a:p>
            <a:pPr algn="r" indent="0" marL="0">
              <a:buNone/>
            </a:pPr>
            <a:r>
              <a:rPr lang="en-US" sz="1000" dirty="0">
                <a:solidFill>
                  <a:srgbClr val="5E6B78"/>
                </a:solidFill>
                <a:latin typeface="Aptos" pitchFamily="34" charset="0"/>
                <a:ea typeface="Aptos" pitchFamily="34" charset="-122"/>
                <a:cs typeface="Apto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6E62"/>
          </a:solidFill>
          <a:ln w="12700">
            <a:solidFill>
              <a:srgbClr val="2B6E62"/>
            </a:solidFill>
            <a:prstDash val="solid"/>
          </a:ln>
        </p:spPr>
      </p:sp>
      <p:sp>
        <p:nvSpPr>
          <p:cNvPr id="3" name="Text 1"/>
          <p:cNvSpPr/>
          <p:nvPr/>
        </p:nvSpPr>
        <p:spPr>
          <a:xfrm>
            <a:off x="658368" y="411480"/>
            <a:ext cx="3657600" cy="228600"/>
          </a:xfrm>
          <a:prstGeom prst="rect">
            <a:avLst/>
          </a:prstGeom>
          <a:noFill/>
          <a:ln/>
        </p:spPr>
        <p:txBody>
          <a:bodyPr wrap="square" rtlCol="0" anchor="ctr"/>
          <a:lstStyle/>
          <a:p>
            <a:pPr indent="0" marL="0">
              <a:buNone/>
            </a:pPr>
            <a:r>
              <a:rPr lang="en-US" sz="1050" b="1" dirty="0">
                <a:solidFill>
                  <a:srgbClr val="2B6E62"/>
                </a:solidFill>
                <a:latin typeface="Aptos" pitchFamily="34" charset="0"/>
                <a:ea typeface="Aptos" pitchFamily="34" charset="-122"/>
                <a:cs typeface="Aptos" pitchFamily="34" charset="-120"/>
              </a:rPr>
              <a:t>THANK YOU</a:t>
            </a:r>
            <a:endParaRPr lang="en-US" sz="1050" dirty="0"/>
          </a:p>
        </p:txBody>
      </p:sp>
      <p:sp>
        <p:nvSpPr>
          <p:cNvPr id="4" name="Text 2"/>
          <p:cNvSpPr/>
          <p:nvPr/>
        </p:nvSpPr>
        <p:spPr>
          <a:xfrm>
            <a:off x="640080" y="713232"/>
            <a:ext cx="9052560" cy="566928"/>
          </a:xfrm>
          <a:prstGeom prst="rect">
            <a:avLst/>
          </a:prstGeom>
          <a:noFill/>
          <a:ln/>
        </p:spPr>
        <p:txBody>
          <a:bodyPr wrap="square" lIns="0" tIns="0" rIns="0" bIns="0" rtlCol="0" anchor="ctr"/>
          <a:lstStyle/>
          <a:p>
            <a:pPr indent="0" marL="0">
              <a:buNone/>
            </a:pPr>
            <a:r>
              <a:rPr lang="en-US" sz="3000" b="1" dirty="0">
                <a:solidFill>
                  <a:srgbClr val="17212B"/>
                </a:solidFill>
                <a:latin typeface="Aptos Display" pitchFamily="34" charset="0"/>
                <a:ea typeface="Aptos Display" pitchFamily="34" charset="-122"/>
                <a:cs typeface="Aptos Display" pitchFamily="34" charset="-120"/>
              </a:rPr>
              <a:t>Helping reviews move smoothly</a:t>
            </a:r>
            <a:endParaRPr lang="en-US" sz="3000" dirty="0"/>
          </a:p>
        </p:txBody>
      </p:sp>
      <p:sp>
        <p:nvSpPr>
          <p:cNvPr id="5" name="Text 3"/>
          <p:cNvSpPr/>
          <p:nvPr/>
        </p:nvSpPr>
        <p:spPr>
          <a:xfrm>
            <a:off x="658368" y="1298448"/>
            <a:ext cx="9875520" cy="329184"/>
          </a:xfrm>
          <a:prstGeom prst="rect">
            <a:avLst/>
          </a:prstGeom>
          <a:noFill/>
          <a:ln/>
        </p:spPr>
        <p:txBody>
          <a:bodyPr wrap="square" lIns="0" tIns="0" rIns="0" bIns="0" rtlCol="0" anchor="ctr"/>
          <a:lstStyle/>
          <a:p>
            <a:pPr indent="0" marL="0">
              <a:buNone/>
            </a:pPr>
            <a:r>
              <a:rPr lang="en-US" sz="1350" dirty="0">
                <a:solidFill>
                  <a:srgbClr val="5E6B78"/>
                </a:solidFill>
                <a:latin typeface="Aptos" pitchFamily="34" charset="0"/>
                <a:ea typeface="Aptos" pitchFamily="34" charset="-122"/>
                <a:cs typeface="Aptos" pitchFamily="34" charset="-120"/>
              </a:rPr>
              <a:t>Complete information and realistic planning help the volunteer review process work better for everyone.</a:t>
            </a:r>
            <a:endParaRPr lang="en-US" sz="1350" dirty="0"/>
          </a:p>
        </p:txBody>
      </p:sp>
      <p:sp>
        <p:nvSpPr>
          <p:cNvPr id="6" name="Text 4"/>
          <p:cNvSpPr/>
          <p:nvPr/>
        </p:nvSpPr>
        <p:spPr>
          <a:xfrm>
            <a:off x="777240" y="1874520"/>
            <a:ext cx="4480560" cy="292608"/>
          </a:xfrm>
          <a:prstGeom prst="rect">
            <a:avLst/>
          </a:prstGeom>
          <a:noFill/>
          <a:ln/>
        </p:spPr>
        <p:txBody>
          <a:bodyPr wrap="square" rtlCol="0" anchor="ctr"/>
          <a:lstStyle/>
          <a:p>
            <a:pPr indent="0" marL="0">
              <a:buNone/>
            </a:pPr>
            <a:r>
              <a:rPr lang="en-US" sz="1800" b="1" dirty="0">
                <a:solidFill>
                  <a:srgbClr val="2B6E62"/>
                </a:solidFill>
                <a:latin typeface="Aptos" pitchFamily="34" charset="0"/>
                <a:ea typeface="Aptos" pitchFamily="34" charset="-122"/>
                <a:cs typeface="Aptos" pitchFamily="34" charset="-120"/>
              </a:rPr>
              <a:t>Volunteer service</a:t>
            </a:r>
            <a:endParaRPr lang="en-US" sz="1800" dirty="0"/>
          </a:p>
        </p:txBody>
      </p:sp>
      <p:sp>
        <p:nvSpPr>
          <p:cNvPr id="7" name="Text 5"/>
          <p:cNvSpPr/>
          <p:nvPr/>
        </p:nvSpPr>
        <p:spPr>
          <a:xfrm>
            <a:off x="777240" y="2313432"/>
            <a:ext cx="4526280" cy="749808"/>
          </a:xfrm>
          <a:prstGeom prst="rect">
            <a:avLst/>
          </a:prstGeom>
          <a:noFill/>
          <a:ln/>
        </p:spPr>
        <p:txBody>
          <a:bodyPr wrap="square" rtlCol="0" anchor="ctr">
            <a:normAutofit/>
          </a:bodyPr>
          <a:lstStyle/>
          <a:p>
            <a:pPr indent="0" marL="0">
              <a:buNone/>
            </a:pPr>
            <a:r>
              <a:rPr lang="en-US" sz="1550" dirty="0">
                <a:solidFill>
                  <a:srgbClr val="17212B"/>
                </a:solidFill>
                <a:latin typeface="Aptos" pitchFamily="34" charset="0"/>
                <a:ea typeface="Aptos" pitchFamily="34" charset="-122"/>
                <a:cs typeface="Aptos" pitchFamily="34" charset="-120"/>
              </a:rPr>
              <a:t>ACC members serve the community in a volunteer role; patience and complete information help reviews stay fair.</a:t>
            </a:r>
            <a:endParaRPr lang="en-US" sz="1550" dirty="0"/>
          </a:p>
        </p:txBody>
      </p:sp>
      <p:sp>
        <p:nvSpPr>
          <p:cNvPr id="8" name="Text 6"/>
          <p:cNvSpPr/>
          <p:nvPr/>
        </p:nvSpPr>
        <p:spPr>
          <a:xfrm>
            <a:off x="6080760" y="1874520"/>
            <a:ext cx="4480560" cy="292608"/>
          </a:xfrm>
          <a:prstGeom prst="rect">
            <a:avLst/>
          </a:prstGeom>
          <a:noFill/>
          <a:ln/>
        </p:spPr>
        <p:txBody>
          <a:bodyPr wrap="square" rtlCol="0" anchor="ctr"/>
          <a:lstStyle/>
          <a:p>
            <a:pPr indent="0" marL="0">
              <a:buNone/>
            </a:pPr>
            <a:r>
              <a:rPr lang="en-US" sz="1800" b="1" dirty="0">
                <a:solidFill>
                  <a:srgbClr val="2B6E62"/>
                </a:solidFill>
                <a:latin typeface="Aptos" pitchFamily="34" charset="0"/>
                <a:ea typeface="Aptos" pitchFamily="34" charset="-122"/>
                <a:cs typeface="Aptos" pitchFamily="34" charset="-120"/>
              </a:rPr>
              <a:t>Submit a complete package</a:t>
            </a:r>
            <a:endParaRPr lang="en-US" sz="1800" dirty="0"/>
          </a:p>
        </p:txBody>
      </p:sp>
      <p:sp>
        <p:nvSpPr>
          <p:cNvPr id="9" name="Text 7"/>
          <p:cNvSpPr/>
          <p:nvPr/>
        </p:nvSpPr>
        <p:spPr>
          <a:xfrm>
            <a:off x="6080760" y="2313432"/>
            <a:ext cx="4526280" cy="749808"/>
          </a:xfrm>
          <a:prstGeom prst="rect">
            <a:avLst/>
          </a:prstGeom>
          <a:noFill/>
          <a:ln/>
        </p:spPr>
        <p:txBody>
          <a:bodyPr wrap="square" rtlCol="0" anchor="ctr">
            <a:normAutofit/>
          </a:bodyPr>
          <a:lstStyle/>
          <a:p>
            <a:pPr indent="0" marL="0">
              <a:buNone/>
            </a:pPr>
            <a:r>
              <a:rPr lang="en-US" sz="1550" dirty="0">
                <a:solidFill>
                  <a:srgbClr val="17212B"/>
                </a:solidFill>
                <a:latin typeface="Aptos" pitchFamily="34" charset="0"/>
                <a:ea typeface="Aptos" pitchFamily="34" charset="-122"/>
                <a:cs typeface="Aptos" pitchFamily="34" charset="-120"/>
              </a:rPr>
              <a:t>Include surveys, dimensions, colors, photos, material samples, plot plans, contractor information, and required support.</a:t>
            </a:r>
            <a:endParaRPr lang="en-US" sz="1550" dirty="0"/>
          </a:p>
        </p:txBody>
      </p:sp>
      <p:sp>
        <p:nvSpPr>
          <p:cNvPr id="10" name="Text 8"/>
          <p:cNvSpPr/>
          <p:nvPr/>
        </p:nvSpPr>
        <p:spPr>
          <a:xfrm>
            <a:off x="777240" y="3703320"/>
            <a:ext cx="4480560" cy="292608"/>
          </a:xfrm>
          <a:prstGeom prst="rect">
            <a:avLst/>
          </a:prstGeom>
          <a:noFill/>
          <a:ln/>
        </p:spPr>
        <p:txBody>
          <a:bodyPr wrap="square" rtlCol="0" anchor="ctr"/>
          <a:lstStyle/>
          <a:p>
            <a:pPr indent="0" marL="0">
              <a:buNone/>
            </a:pPr>
            <a:r>
              <a:rPr lang="en-US" sz="1800" b="1" dirty="0">
                <a:solidFill>
                  <a:srgbClr val="2B6E62"/>
                </a:solidFill>
                <a:latin typeface="Aptos" pitchFamily="34" charset="0"/>
                <a:ea typeface="Aptos" pitchFamily="34" charset="-122"/>
                <a:cs typeface="Aptos" pitchFamily="34" charset="-120"/>
              </a:rPr>
              <a:t>Plan around the timeline</a:t>
            </a:r>
            <a:endParaRPr lang="en-US" sz="1800" dirty="0"/>
          </a:p>
        </p:txBody>
      </p:sp>
      <p:sp>
        <p:nvSpPr>
          <p:cNvPr id="11" name="Text 9"/>
          <p:cNvSpPr/>
          <p:nvPr/>
        </p:nvSpPr>
        <p:spPr>
          <a:xfrm>
            <a:off x="777240" y="4142232"/>
            <a:ext cx="4526280" cy="749808"/>
          </a:xfrm>
          <a:prstGeom prst="rect">
            <a:avLst/>
          </a:prstGeom>
          <a:noFill/>
          <a:ln/>
        </p:spPr>
        <p:txBody>
          <a:bodyPr wrap="square" rtlCol="0" anchor="ctr">
            <a:normAutofit/>
          </a:bodyPr>
          <a:lstStyle/>
          <a:p>
            <a:pPr indent="0" marL="0">
              <a:buNone/>
            </a:pPr>
            <a:r>
              <a:rPr lang="en-US" sz="1550" dirty="0">
                <a:solidFill>
                  <a:srgbClr val="17212B"/>
                </a:solidFill>
                <a:latin typeface="Aptos" pitchFamily="34" charset="0"/>
                <a:ea typeface="Aptos" pitchFamily="34" charset="-122"/>
                <a:cs typeface="Aptos" pitchFamily="34" charset="-120"/>
              </a:rPr>
              <a:t>The governing documents allow up to 45 days for review of complete applications; complex requests may need clarification.</a:t>
            </a:r>
            <a:endParaRPr lang="en-US" sz="1550" dirty="0"/>
          </a:p>
        </p:txBody>
      </p:sp>
      <p:sp>
        <p:nvSpPr>
          <p:cNvPr id="12" name="Text 10"/>
          <p:cNvSpPr/>
          <p:nvPr/>
        </p:nvSpPr>
        <p:spPr>
          <a:xfrm>
            <a:off x="6080760" y="3703320"/>
            <a:ext cx="4480560" cy="292608"/>
          </a:xfrm>
          <a:prstGeom prst="rect">
            <a:avLst/>
          </a:prstGeom>
          <a:noFill/>
          <a:ln/>
        </p:spPr>
        <p:txBody>
          <a:bodyPr wrap="square" rtlCol="0" anchor="ctr"/>
          <a:lstStyle/>
          <a:p>
            <a:pPr indent="0" marL="0">
              <a:buNone/>
            </a:pPr>
            <a:r>
              <a:rPr lang="en-US" sz="1800" b="1" dirty="0">
                <a:solidFill>
                  <a:srgbClr val="2B6E62"/>
                </a:solidFill>
                <a:latin typeface="Aptos" pitchFamily="34" charset="0"/>
                <a:ea typeface="Aptos" pitchFamily="34" charset="-122"/>
                <a:cs typeface="Aptos" pitchFamily="34" charset="-120"/>
              </a:rPr>
              <a:t>Wait for written approval</a:t>
            </a:r>
            <a:endParaRPr lang="en-US" sz="1800" dirty="0"/>
          </a:p>
        </p:txBody>
      </p:sp>
      <p:sp>
        <p:nvSpPr>
          <p:cNvPr id="13" name="Text 11"/>
          <p:cNvSpPr/>
          <p:nvPr/>
        </p:nvSpPr>
        <p:spPr>
          <a:xfrm>
            <a:off x="6080760" y="4142232"/>
            <a:ext cx="4526280" cy="749808"/>
          </a:xfrm>
          <a:prstGeom prst="rect">
            <a:avLst/>
          </a:prstGeom>
          <a:noFill/>
          <a:ln/>
        </p:spPr>
        <p:txBody>
          <a:bodyPr wrap="square" rtlCol="0" anchor="ctr">
            <a:normAutofit/>
          </a:bodyPr>
          <a:lstStyle/>
          <a:p>
            <a:pPr indent="0" marL="0">
              <a:buNone/>
            </a:pPr>
            <a:r>
              <a:rPr lang="en-US" sz="1550" dirty="0">
                <a:solidFill>
                  <a:srgbClr val="17212B"/>
                </a:solidFill>
                <a:latin typeface="Aptos" pitchFamily="34" charset="0"/>
                <a:ea typeface="Aptos" pitchFamily="34" charset="-122"/>
                <a:cs typeface="Aptos" pitchFamily="34" charset="-120"/>
              </a:rPr>
              <a:t>Please wait for formal written approval before scheduling contractors, ordering materials, or beginning work.</a:t>
            </a:r>
            <a:endParaRPr lang="en-US" sz="1550" dirty="0"/>
          </a:p>
        </p:txBody>
      </p:sp>
      <p:sp>
        <p:nvSpPr>
          <p:cNvPr id="14" name="Shape 12"/>
          <p:cNvSpPr/>
          <p:nvPr/>
        </p:nvSpPr>
        <p:spPr>
          <a:xfrm>
            <a:off x="777240" y="5532120"/>
            <a:ext cx="10149840" cy="475488"/>
          </a:xfrm>
          <a:prstGeom prst="roundRect">
            <a:avLst>
              <a:gd name="adj" fmla="val 9615"/>
            </a:avLst>
          </a:prstGeom>
          <a:solidFill>
            <a:srgbClr val="DDEAE5"/>
          </a:solidFill>
          <a:ln w="12700">
            <a:solidFill>
              <a:srgbClr val="DDEAE5"/>
            </a:solidFill>
            <a:prstDash val="solid"/>
          </a:ln>
        </p:spPr>
      </p:sp>
      <p:sp>
        <p:nvSpPr>
          <p:cNvPr id="15" name="Text 13"/>
          <p:cNvSpPr/>
          <p:nvPr/>
        </p:nvSpPr>
        <p:spPr>
          <a:xfrm>
            <a:off x="1024128" y="5650992"/>
            <a:ext cx="4937760" cy="201168"/>
          </a:xfrm>
          <a:prstGeom prst="rect">
            <a:avLst/>
          </a:prstGeom>
          <a:noFill/>
          <a:ln/>
        </p:spPr>
        <p:txBody>
          <a:bodyPr wrap="square" rtlCol="0" anchor="ctr"/>
          <a:lstStyle/>
          <a:p>
            <a:pPr indent="0" marL="0">
              <a:buNone/>
            </a:pPr>
            <a:r>
              <a:rPr lang="en-US" sz="1550" b="1" dirty="0">
                <a:solidFill>
                  <a:srgbClr val="2B6E62"/>
                </a:solidFill>
                <a:latin typeface="Aptos" pitchFamily="34" charset="0"/>
                <a:ea typeface="Aptos" pitchFamily="34" charset="-122"/>
                <a:cs typeface="Aptos" pitchFamily="34" charset="-120"/>
              </a:rPr>
              <a:t>ACC email: umsteadgroveacc@gmail.com</a:t>
            </a:r>
            <a:endParaRPr lang="en-US" sz="1550" dirty="0"/>
          </a:p>
        </p:txBody>
      </p:sp>
      <p:sp>
        <p:nvSpPr>
          <p:cNvPr id="16" name="Text 14"/>
          <p:cNvSpPr/>
          <p:nvPr/>
        </p:nvSpPr>
        <p:spPr>
          <a:xfrm>
            <a:off x="5989320" y="5650992"/>
            <a:ext cx="4480560" cy="201168"/>
          </a:xfrm>
          <a:prstGeom prst="rect">
            <a:avLst/>
          </a:prstGeom>
          <a:noFill/>
          <a:ln/>
        </p:spPr>
        <p:txBody>
          <a:bodyPr wrap="square" rtlCol="0" anchor="ctr"/>
          <a:lstStyle/>
          <a:p>
            <a:pPr indent="0" marL="0">
              <a:buNone/>
            </a:pPr>
            <a:r>
              <a:rPr lang="en-US" sz="1250" dirty="0">
                <a:solidFill>
                  <a:srgbClr val="17212B"/>
                </a:solidFill>
                <a:latin typeface="Aptos" pitchFamily="34" charset="0"/>
                <a:ea typeface="Aptos" pitchFamily="34" charset="-122"/>
                <a:cs typeface="Aptos" pitchFamily="34" charset="-120"/>
              </a:rPr>
              <a:t>For ARC questions, applications, and follow-up documentation.</a:t>
            </a:r>
            <a:endParaRPr lang="en-US" sz="1250" dirty="0"/>
          </a:p>
        </p:txBody>
      </p:sp>
      <p:sp>
        <p:nvSpPr>
          <p:cNvPr id="17" name="Shape 15"/>
          <p:cNvSpPr/>
          <p:nvPr/>
        </p:nvSpPr>
        <p:spPr>
          <a:xfrm>
            <a:off x="594360" y="6345936"/>
            <a:ext cx="10972800" cy="0"/>
          </a:xfrm>
          <a:prstGeom prst="line">
            <a:avLst/>
          </a:prstGeom>
          <a:noFill/>
          <a:ln w="12700">
            <a:solidFill>
              <a:srgbClr val="C9D8D2"/>
            </a:solidFill>
            <a:prstDash val="solid"/>
          </a:ln>
        </p:spPr>
      </p:sp>
      <p:sp>
        <p:nvSpPr>
          <p:cNvPr id="18" name="Text 16"/>
          <p:cNvSpPr/>
          <p:nvPr/>
        </p:nvSpPr>
        <p:spPr>
          <a:xfrm>
            <a:off x="594360" y="6446520"/>
            <a:ext cx="9966960" cy="201168"/>
          </a:xfrm>
          <a:prstGeom prst="rect">
            <a:avLst/>
          </a:prstGeom>
          <a:noFill/>
          <a:ln/>
        </p:spPr>
        <p:txBody>
          <a:bodyPr wrap="square" rtlCol="0" anchor="ctr">
            <a:normAutofit/>
          </a:bodyPr>
          <a:lstStyle/>
          <a:p>
            <a:pPr indent="0" marL="0">
              <a:buNone/>
            </a:pPr>
            <a:r>
              <a:rPr lang="en-US" sz="950" dirty="0">
                <a:solidFill>
                  <a:srgbClr val="5E6B78"/>
                </a:solidFill>
                <a:latin typeface="Aptos" pitchFamily="34" charset="0"/>
                <a:ea typeface="Aptos" pitchFamily="34" charset="-122"/>
                <a:cs typeface="Aptos" pitchFamily="34" charset="-120"/>
              </a:rPr>
              <a:t>Closing reminder for homeowners.</a:t>
            </a:r>
            <a:endParaRPr lang="en-US" sz="950" dirty="0"/>
          </a:p>
        </p:txBody>
      </p:sp>
      <p:sp>
        <p:nvSpPr>
          <p:cNvPr id="19" name="Text 17"/>
          <p:cNvSpPr/>
          <p:nvPr/>
        </p:nvSpPr>
        <p:spPr>
          <a:xfrm>
            <a:off x="11064240" y="6419088"/>
            <a:ext cx="502920" cy="228600"/>
          </a:xfrm>
          <a:prstGeom prst="rect">
            <a:avLst/>
          </a:prstGeom>
          <a:noFill/>
          <a:ln/>
        </p:spPr>
        <p:txBody>
          <a:bodyPr wrap="square" rtlCol="0" anchor="ctr"/>
          <a:lstStyle/>
          <a:p>
            <a:pPr algn="r" indent="0" marL="0">
              <a:buNone/>
            </a:pPr>
            <a:r>
              <a:rPr lang="en-US" sz="1000" dirty="0">
                <a:solidFill>
                  <a:srgbClr val="5E6B78"/>
                </a:solidFill>
                <a:latin typeface="Aptos" pitchFamily="34" charset="0"/>
                <a:ea typeface="Aptos" pitchFamily="34" charset="-122"/>
                <a:cs typeface="Aptos"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Umstead Grove HOA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 Community Discussion Presentation</dc:title>
  <dc:subject>ACC Community Discussion</dc:subject>
  <dc:creator>Umstead Grove ACC</dc:creator>
  <cp:lastModifiedBy>Umstead Grove ACC</cp:lastModifiedBy>
  <cp:revision>1</cp:revision>
  <dcterms:created xsi:type="dcterms:W3CDTF">2026-05-15T20:07:40Z</dcterms:created>
  <dcterms:modified xsi:type="dcterms:W3CDTF">2026-05-15T20:07:40Z</dcterms:modified>
</cp:coreProperties>
</file>